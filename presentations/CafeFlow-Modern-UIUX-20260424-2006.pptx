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6" r:id="rId8"/>
    <p:sldId id="262" r:id="rId9"/>
    <p:sldId id="263" r:id="rId10"/>
    <p:sldId id="264" r:id="rId11"/>
    <p:sldId id="265"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C7665"/>
    <a:srgbClr val="F59E0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00388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1E771-7F27-B320-0479-3EB2ADD42F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BC6A6C-020A-410E-4FA5-C8E3C06FF0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E9ADD0-1A42-5CFA-4CCA-F9ED2664894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5591934-802A-783D-D2A1-AA32C32D1FD4}"/>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9581455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47857"/>
          </a:solidFill>
          <a:ln w="12700">
            <a:solidFill>
              <a:srgbClr val="047857"/>
            </a:solidFill>
            <a:prstDash val="solid"/>
          </a:ln>
        </p:spPr>
        <p:txBody>
          <a:bodyPr/>
          <a:lstStyle/>
          <a:p>
            <a:endParaRPr lang="en-US"/>
          </a:p>
        </p:txBody>
      </p:sp>
      <p:sp>
        <p:nvSpPr>
          <p:cNvPr id="3" name="Shape 1"/>
          <p:cNvSpPr/>
          <p:nvPr/>
        </p:nvSpPr>
        <p:spPr>
          <a:xfrm>
            <a:off x="0" y="6748272"/>
            <a:ext cx="12191695" cy="109728"/>
          </a:xfrm>
          <a:prstGeom prst="rect">
            <a:avLst/>
          </a:prstGeom>
          <a:solidFill>
            <a:srgbClr val="F59E0B"/>
          </a:solidFill>
          <a:ln w="12700">
            <a:solidFill>
              <a:srgbClr val="F59E0B"/>
            </a:solidFill>
            <a:prstDash val="solid"/>
          </a:ln>
        </p:spPr>
        <p:txBody>
          <a:bodyPr/>
          <a:lstStyle/>
          <a:p>
            <a:endParaRPr lang="en-US"/>
          </a:p>
        </p:txBody>
      </p:sp>
      <p:sp>
        <p:nvSpPr>
          <p:cNvPr id="4" name="Text 2"/>
          <p:cNvSpPr/>
          <p:nvPr/>
        </p:nvSpPr>
        <p:spPr>
          <a:xfrm>
            <a:off x="9881130" y="6446520"/>
            <a:ext cx="2103120" cy="182880"/>
          </a:xfrm>
          <a:prstGeom prst="rect">
            <a:avLst/>
          </a:prstGeom>
          <a:noFill/>
          <a:ln/>
        </p:spPr>
        <p:txBody>
          <a:bodyPr wrap="square" rtlCol="0" anchor="ctr"/>
          <a:lstStyle/>
          <a:p>
            <a:pPr marL="0" indent="0" algn="r">
              <a:buNone/>
            </a:pPr>
            <a:r>
              <a:rPr lang="en-US" sz="950" dirty="0">
                <a:solidFill>
                  <a:srgbClr val="71717A"/>
                </a:solidFill>
                <a:latin typeface="Inter" pitchFamily="34" charset="0"/>
                <a:ea typeface="Inter" pitchFamily="34" charset="-122"/>
                <a:cs typeface="Inter" pitchFamily="34" charset="-120"/>
              </a:rPr>
              <a:t>1/1</a:t>
            </a:r>
            <a:r>
              <a:rPr lang="ar-LY" sz="950" dirty="0">
                <a:solidFill>
                  <a:srgbClr val="71717A"/>
                </a:solidFill>
                <a:latin typeface="Inter" pitchFamily="34" charset="0"/>
                <a:ea typeface="Inter" pitchFamily="34" charset="-122"/>
                <a:cs typeface="Inter" pitchFamily="34" charset="-120"/>
              </a:rPr>
              <a:t>1</a:t>
            </a:r>
            <a:endParaRPr lang="en-US" sz="950" dirty="0"/>
          </a:p>
        </p:txBody>
      </p:sp>
      <p:sp>
        <p:nvSpPr>
          <p:cNvPr id="5" name="Shape 3"/>
          <p:cNvSpPr/>
          <p:nvPr/>
        </p:nvSpPr>
        <p:spPr>
          <a:xfrm>
            <a:off x="395462" y="685333"/>
            <a:ext cx="11401075" cy="5395893"/>
          </a:xfrm>
          <a:prstGeom prst="roundRect">
            <a:avLst/>
          </a:prstGeom>
          <a:solidFill>
            <a:srgbClr val="FFFFFF"/>
          </a:solidFill>
          <a:ln w="12700">
            <a:solidFill>
              <a:srgbClr val="E4E4E7"/>
            </a:solidFill>
            <a:prstDash val="solid"/>
          </a:ln>
          <a:effectLst>
            <a:outerShdw blurRad="50800" dist="50800" dir="2700000" algn="bl" rotWithShape="0">
              <a:srgbClr val="B6BCC6">
                <a:alpha val="20000"/>
              </a:srgbClr>
            </a:outerShdw>
          </a:effectLst>
        </p:spPr>
        <p:txBody>
          <a:bodyPr/>
          <a:lstStyle/>
          <a:p>
            <a:endParaRPr lang="en-US"/>
          </a:p>
        </p:txBody>
      </p:sp>
      <p:sp>
        <p:nvSpPr>
          <p:cNvPr id="6" name="Text 4"/>
          <p:cNvSpPr/>
          <p:nvPr/>
        </p:nvSpPr>
        <p:spPr>
          <a:xfrm>
            <a:off x="1097280" y="1234440"/>
            <a:ext cx="10058400" cy="457200"/>
          </a:xfrm>
          <a:prstGeom prst="rect">
            <a:avLst/>
          </a:prstGeom>
          <a:noFill/>
          <a:ln/>
        </p:spPr>
        <p:txBody>
          <a:bodyPr wrap="square" rtlCol="0" anchor="ctr"/>
          <a:lstStyle/>
          <a:p>
            <a:pPr marL="0" indent="0" algn="r" rtl="1">
              <a:buNone/>
            </a:pPr>
            <a:r>
              <a:rPr lang="en-US" sz="2400" b="1" dirty="0">
                <a:solidFill>
                  <a:srgbClr val="F59E0B"/>
                </a:solidFill>
                <a:latin typeface="IBM Plex Sans Arabic" pitchFamily="34" charset="0"/>
                <a:ea typeface="IBM Plex Sans Arabic" pitchFamily="34" charset="-122"/>
                <a:cs typeface="IBM Plex Sans Arabic" pitchFamily="34" charset="-120"/>
              </a:rPr>
              <a:t>🎓 عرض مشروع التخرج</a:t>
            </a:r>
            <a:endParaRPr lang="en-US" sz="2400" dirty="0"/>
          </a:p>
        </p:txBody>
      </p:sp>
      <p:sp>
        <p:nvSpPr>
          <p:cNvPr id="7" name="Text 5"/>
          <p:cNvSpPr/>
          <p:nvPr/>
        </p:nvSpPr>
        <p:spPr>
          <a:xfrm>
            <a:off x="1097280" y="1828800"/>
            <a:ext cx="10058400" cy="731520"/>
          </a:xfrm>
          <a:prstGeom prst="rect">
            <a:avLst/>
          </a:prstGeom>
          <a:noFill/>
          <a:ln/>
        </p:spPr>
        <p:txBody>
          <a:bodyPr wrap="square" rtlCol="0" anchor="ctr"/>
          <a:lstStyle/>
          <a:p>
            <a:pPr marL="0" indent="0" algn="r" rtl="1">
              <a:buNone/>
            </a:pPr>
            <a:r>
              <a:rPr lang="en-US" sz="4800" b="1" dirty="0">
                <a:solidFill>
                  <a:srgbClr val="047857"/>
                </a:solidFill>
                <a:latin typeface="IBM Plex Sans Arabic" pitchFamily="34" charset="0"/>
                <a:ea typeface="IBM Plex Sans Arabic" pitchFamily="34" charset="-122"/>
                <a:cs typeface="IBM Plex Sans Arabic" pitchFamily="34" charset="-120"/>
              </a:rPr>
              <a:t>CafeFlow</a:t>
            </a:r>
            <a:endParaRPr lang="en-US" sz="4800" dirty="0"/>
          </a:p>
        </p:txBody>
      </p:sp>
      <p:sp>
        <p:nvSpPr>
          <p:cNvPr id="8" name="Text 6"/>
          <p:cNvSpPr/>
          <p:nvPr/>
        </p:nvSpPr>
        <p:spPr>
          <a:xfrm>
            <a:off x="1097280" y="2606040"/>
            <a:ext cx="10058400" cy="548640"/>
          </a:xfrm>
          <a:prstGeom prst="rect">
            <a:avLst/>
          </a:prstGeom>
          <a:noFill/>
          <a:ln/>
        </p:spPr>
        <p:txBody>
          <a:bodyPr wrap="square" rtlCol="0" anchor="ctr"/>
          <a:lstStyle/>
          <a:p>
            <a:pPr algn="r" rtl="1"/>
            <a:r>
              <a:rPr lang="en-US" sz="2100" dirty="0" err="1">
                <a:solidFill>
                  <a:srgbClr val="0F172A"/>
                </a:solidFill>
                <a:latin typeface="IBM Plex Sans Arabic" pitchFamily="34" charset="0"/>
                <a:ea typeface="IBM Plex Sans Arabic" pitchFamily="34" charset="-122"/>
                <a:cs typeface="IBM Plex Sans Arabic" pitchFamily="34" charset="-120"/>
              </a:rPr>
              <a:t>نظام</a:t>
            </a:r>
            <a:r>
              <a:rPr lang="ar-LY" sz="2100" dirty="0">
                <a:solidFill>
                  <a:srgbClr val="0F172A"/>
                </a:solidFill>
                <a:latin typeface="IBM Plex Sans Arabic" pitchFamily="34" charset="0"/>
                <a:ea typeface="IBM Plex Sans Arabic" pitchFamily="34" charset="-122"/>
                <a:cs typeface="IBM Plex Sans Arabic" pitchFamily="34" charset="-120"/>
              </a:rPr>
              <a:t> </a:t>
            </a:r>
            <a:r>
              <a:rPr lang="en-US" sz="2100" dirty="0">
                <a:solidFill>
                  <a:srgbClr val="0F172A"/>
                </a:solidFill>
                <a:effectLst>
                  <a:outerShdw blurRad="38100" dist="38100" dir="2700000" algn="tl">
                    <a:srgbClr val="000000">
                      <a:alpha val="43137"/>
                    </a:srgbClr>
                  </a:outerShdw>
                </a:effectLst>
                <a:latin typeface="IBM Plex Sans Arabic" pitchFamily="34" charset="0"/>
                <a:ea typeface="IBM Plex Sans Arabic" pitchFamily="34" charset="-122"/>
                <a:cs typeface="IBM Plex Sans Arabic" pitchFamily="34" charset="-120"/>
              </a:rPr>
              <a:t>SaaS</a:t>
            </a:r>
            <a:r>
              <a:rPr lang="ar-LY" sz="2100" dirty="0">
                <a:solidFill>
                  <a:srgbClr val="0F172A"/>
                </a:solidFill>
                <a:latin typeface="IBM Plex Sans Arabic" pitchFamily="34" charset="0"/>
                <a:ea typeface="IBM Plex Sans Arabic" pitchFamily="34" charset="-122"/>
                <a:cs typeface="IBM Plex Sans Arabic" pitchFamily="34" charset="-120"/>
              </a:rPr>
              <a:t> </a:t>
            </a:r>
            <a:r>
              <a:rPr lang="en-US" sz="2100" dirty="0" err="1">
                <a:solidFill>
                  <a:srgbClr val="0F172A"/>
                </a:solidFill>
                <a:latin typeface="IBM Plex Sans Arabic" pitchFamily="34" charset="0"/>
                <a:ea typeface="IBM Plex Sans Arabic" pitchFamily="34" charset="-122"/>
                <a:cs typeface="IBM Plex Sans Arabic" pitchFamily="34" charset="-120"/>
              </a:rPr>
              <a:t>سحابي</a:t>
            </a:r>
            <a:r>
              <a:rPr lang="ar-LY" sz="2100" dirty="0">
                <a:solidFill>
                  <a:srgbClr val="0F172A"/>
                </a:solidFill>
                <a:latin typeface="IBM Plex Sans Arabic" pitchFamily="34" charset="0"/>
                <a:ea typeface="IBM Plex Sans Arabic" pitchFamily="34" charset="-122"/>
                <a:cs typeface="IBM Plex Sans Arabic" pitchFamily="34" charset="-120"/>
              </a:rPr>
              <a:t> </a:t>
            </a:r>
            <a:r>
              <a:rPr lang="en-US" sz="2100" dirty="0" err="1">
                <a:solidFill>
                  <a:srgbClr val="0F172A"/>
                </a:solidFill>
                <a:latin typeface="IBM Plex Sans Arabic" pitchFamily="34" charset="0"/>
                <a:ea typeface="IBM Plex Sans Arabic" pitchFamily="34" charset="-122"/>
                <a:cs typeface="IBM Plex Sans Arabic" pitchFamily="34" charset="-120"/>
              </a:rPr>
              <a:t>لإدارة</a:t>
            </a:r>
            <a:r>
              <a:rPr lang="en-US" sz="2100" dirty="0">
                <a:solidFill>
                  <a:srgbClr val="0F172A"/>
                </a:solidFill>
                <a:latin typeface="IBM Plex Sans Arabic" pitchFamily="34" charset="0"/>
                <a:ea typeface="IBM Plex Sans Arabic" pitchFamily="34" charset="-122"/>
                <a:cs typeface="IBM Plex Sans Arabic" pitchFamily="34" charset="-120"/>
              </a:rPr>
              <a:t> </a:t>
            </a:r>
            <a:r>
              <a:rPr lang="en-US" sz="2100" dirty="0" err="1">
                <a:solidFill>
                  <a:srgbClr val="0F172A"/>
                </a:solidFill>
                <a:latin typeface="IBM Plex Sans Arabic" pitchFamily="34" charset="0"/>
                <a:ea typeface="IBM Plex Sans Arabic" pitchFamily="34" charset="-122"/>
                <a:cs typeface="IBM Plex Sans Arabic" pitchFamily="34" charset="-120"/>
              </a:rPr>
              <a:t>المقاهي</a:t>
            </a:r>
            <a:r>
              <a:rPr lang="en-US" sz="2100" dirty="0">
                <a:solidFill>
                  <a:srgbClr val="0F172A"/>
                </a:solidFill>
                <a:latin typeface="IBM Plex Sans Arabic" pitchFamily="34" charset="0"/>
                <a:ea typeface="IBM Plex Sans Arabic" pitchFamily="34" charset="-122"/>
                <a:cs typeface="IBM Plex Sans Arabic" pitchFamily="34" charset="-120"/>
              </a:rPr>
              <a:t> </a:t>
            </a:r>
            <a:r>
              <a:rPr lang="en-US" sz="2100" dirty="0" err="1">
                <a:solidFill>
                  <a:srgbClr val="0F172A"/>
                </a:solidFill>
                <a:latin typeface="IBM Plex Sans Arabic" pitchFamily="34" charset="0"/>
                <a:ea typeface="IBM Plex Sans Arabic" pitchFamily="34" charset="-122"/>
                <a:cs typeface="IBM Plex Sans Arabic" pitchFamily="34" charset="-120"/>
              </a:rPr>
              <a:t>متعددة</a:t>
            </a:r>
            <a:r>
              <a:rPr lang="en-US" sz="2100" dirty="0">
                <a:solidFill>
                  <a:srgbClr val="0F172A"/>
                </a:solidFill>
                <a:latin typeface="IBM Plex Sans Arabic" pitchFamily="34" charset="0"/>
                <a:ea typeface="IBM Plex Sans Arabic" pitchFamily="34" charset="-122"/>
                <a:cs typeface="IBM Plex Sans Arabic" pitchFamily="34" charset="-120"/>
              </a:rPr>
              <a:t> </a:t>
            </a:r>
            <a:r>
              <a:rPr lang="en-US" sz="2100" dirty="0" err="1">
                <a:solidFill>
                  <a:srgbClr val="0F172A"/>
                </a:solidFill>
                <a:latin typeface="IBM Plex Sans Arabic" pitchFamily="34" charset="0"/>
                <a:ea typeface="IBM Plex Sans Arabic" pitchFamily="34" charset="-122"/>
                <a:cs typeface="IBM Plex Sans Arabic" pitchFamily="34" charset="-120"/>
              </a:rPr>
              <a:t>الفروع</a:t>
            </a:r>
            <a:r>
              <a:rPr lang="en-US" sz="2100" dirty="0">
                <a:solidFill>
                  <a:srgbClr val="0F172A"/>
                </a:solidFill>
                <a:latin typeface="IBM Plex Sans Arabic" pitchFamily="34" charset="0"/>
                <a:ea typeface="IBM Plex Sans Arabic" pitchFamily="34" charset="-122"/>
                <a:cs typeface="IBM Plex Sans Arabic" pitchFamily="34" charset="-120"/>
              </a:rPr>
              <a:t> </a:t>
            </a:r>
            <a:r>
              <a:rPr lang="en-US" sz="2100" dirty="0" err="1">
                <a:solidFill>
                  <a:srgbClr val="0F172A"/>
                </a:solidFill>
                <a:latin typeface="IBM Plex Sans Arabic" pitchFamily="34" charset="0"/>
                <a:ea typeface="IBM Plex Sans Arabic" pitchFamily="34" charset="-122"/>
                <a:cs typeface="IBM Plex Sans Arabic" pitchFamily="34" charset="-120"/>
              </a:rPr>
              <a:t>بنظام</a:t>
            </a:r>
            <a:r>
              <a:rPr lang="en-US" sz="2100" dirty="0">
                <a:solidFill>
                  <a:srgbClr val="0F172A"/>
                </a:solidFill>
                <a:latin typeface="IBM Plex Sans Arabic" pitchFamily="34" charset="0"/>
                <a:ea typeface="IBM Plex Sans Arabic" pitchFamily="34" charset="-122"/>
                <a:cs typeface="IBM Plex Sans Arabic" pitchFamily="34" charset="-120"/>
              </a:rPr>
              <a:t> </a:t>
            </a:r>
            <a:r>
              <a:rPr lang="en-US" sz="2100" dirty="0" err="1">
                <a:solidFill>
                  <a:srgbClr val="0F172A"/>
                </a:solidFill>
                <a:latin typeface="IBM Plex Sans Arabic" pitchFamily="34" charset="0"/>
                <a:ea typeface="IBM Plex Sans Arabic" pitchFamily="34" charset="-122"/>
                <a:cs typeface="IBM Plex Sans Arabic" pitchFamily="34" charset="-120"/>
              </a:rPr>
              <a:t>الاشتراكات</a:t>
            </a:r>
            <a:endParaRPr lang="en-US" sz="2100" dirty="0"/>
          </a:p>
        </p:txBody>
      </p:sp>
      <p:sp>
        <p:nvSpPr>
          <p:cNvPr id="9" name="Text 7"/>
          <p:cNvSpPr/>
          <p:nvPr/>
        </p:nvSpPr>
        <p:spPr>
          <a:xfrm>
            <a:off x="6910246" y="3345956"/>
            <a:ext cx="4389120" cy="1920240"/>
          </a:xfrm>
          <a:prstGeom prst="rect">
            <a:avLst/>
          </a:prstGeom>
          <a:noFill/>
          <a:ln/>
        </p:spPr>
        <p:txBody>
          <a:bodyPr wrap="square" rtlCol="0" anchor="ctr"/>
          <a:lstStyle/>
          <a:p>
            <a:pPr marL="0" indent="0" algn="r" rtl="1">
              <a:buNone/>
            </a:pPr>
            <a:r>
              <a:rPr lang="en-US" sz="1500" dirty="0">
                <a:solidFill>
                  <a:srgbClr val="0F172A"/>
                </a:solidFill>
                <a:latin typeface="IBM Plex Sans Arabic" pitchFamily="34" charset="0"/>
                <a:ea typeface="IBM Plex Sans Arabic" pitchFamily="34" charset="-122"/>
                <a:cs typeface="IBM Plex Sans Arabic" pitchFamily="34" charset="-120"/>
              </a:rPr>
              <a:t>إعداد:</a:t>
            </a:r>
            <a:endParaRPr lang="en-US" sz="1500" dirty="0"/>
          </a:p>
          <a:p>
            <a:pPr marL="0" indent="0" algn="r" rtl="1">
              <a:buNone/>
            </a:pPr>
            <a:r>
              <a:rPr lang="en-US" sz="1500" dirty="0" err="1">
                <a:solidFill>
                  <a:srgbClr val="0F172A"/>
                </a:solidFill>
                <a:latin typeface="IBM Plex Sans Arabic" pitchFamily="34" charset="0"/>
                <a:ea typeface="IBM Plex Sans Arabic" pitchFamily="34" charset="-122"/>
                <a:cs typeface="IBM Plex Sans Arabic" pitchFamily="34" charset="-120"/>
              </a:rPr>
              <a:t>عمر</a:t>
            </a:r>
            <a:r>
              <a:rPr lang="en-US" sz="1500" dirty="0">
                <a:solidFill>
                  <a:srgbClr val="0F172A"/>
                </a:solidFill>
                <a:latin typeface="IBM Plex Sans Arabic" pitchFamily="34" charset="0"/>
                <a:ea typeface="IBM Plex Sans Arabic" pitchFamily="34" charset="-122"/>
                <a:cs typeface="IBM Plex Sans Arabic" pitchFamily="34" charset="-120"/>
              </a:rPr>
              <a:t> </a:t>
            </a:r>
            <a:r>
              <a:rPr lang="en-US" sz="1500" dirty="0" err="1">
                <a:solidFill>
                  <a:srgbClr val="0F172A"/>
                </a:solidFill>
                <a:latin typeface="IBM Plex Sans Arabic" pitchFamily="34" charset="0"/>
                <a:ea typeface="IBM Plex Sans Arabic" pitchFamily="34" charset="-122"/>
                <a:cs typeface="IBM Plex Sans Arabic" pitchFamily="34" charset="-120"/>
              </a:rPr>
              <a:t>الأبيض</a:t>
            </a:r>
            <a:endParaRPr lang="en-US" sz="1500" dirty="0"/>
          </a:p>
        </p:txBody>
      </p:sp>
      <p:sp>
        <p:nvSpPr>
          <p:cNvPr id="10" name="Text 8"/>
          <p:cNvSpPr/>
          <p:nvPr/>
        </p:nvSpPr>
        <p:spPr>
          <a:xfrm>
            <a:off x="6285092" y="3776098"/>
            <a:ext cx="2651760" cy="1005840"/>
          </a:xfrm>
          <a:prstGeom prst="rect">
            <a:avLst/>
          </a:prstGeom>
          <a:noFill/>
          <a:ln/>
        </p:spPr>
        <p:txBody>
          <a:bodyPr wrap="square" rtlCol="0" anchor="ctr"/>
          <a:lstStyle/>
          <a:p>
            <a:pPr marL="0" indent="0" algn="r" rtl="1">
              <a:buNone/>
            </a:pPr>
            <a:r>
              <a:rPr lang="en-US" sz="1500" dirty="0">
                <a:solidFill>
                  <a:srgbClr val="0F172A"/>
                </a:solidFill>
                <a:latin typeface="IBM Plex Sans Arabic" pitchFamily="34" charset="0"/>
                <a:ea typeface="IBM Plex Sans Arabic" pitchFamily="34" charset="-122"/>
                <a:cs typeface="IBM Plex Sans Arabic" pitchFamily="34" charset="-120"/>
              </a:rPr>
              <a:t>إشراف:</a:t>
            </a:r>
            <a:endParaRPr lang="en-US" sz="1500" dirty="0"/>
          </a:p>
          <a:p>
            <a:pPr marL="0" indent="0" algn="r" rtl="1">
              <a:buNone/>
            </a:pPr>
            <a:r>
              <a:rPr lang="ar-LY" sz="1500" dirty="0">
                <a:solidFill>
                  <a:srgbClr val="0F172A"/>
                </a:solidFill>
                <a:latin typeface="IBM Plex Sans Arabic" pitchFamily="34" charset="0"/>
                <a:ea typeface="IBM Plex Sans Arabic" pitchFamily="34" charset="-122"/>
                <a:cs typeface="IBM Plex Sans Arabic" pitchFamily="34" charset="-120"/>
              </a:rPr>
              <a:t>أ.</a:t>
            </a:r>
            <a:r>
              <a:rPr lang="en-US" sz="1500" dirty="0">
                <a:solidFill>
                  <a:srgbClr val="0F172A"/>
                </a:solidFill>
                <a:latin typeface="IBM Plex Sans Arabic" pitchFamily="34" charset="0"/>
                <a:ea typeface="IBM Plex Sans Arabic" pitchFamily="34" charset="-122"/>
                <a:cs typeface="IBM Plex Sans Arabic" pitchFamily="34" charset="-120"/>
              </a:rPr>
              <a:t> </a:t>
            </a:r>
            <a:r>
              <a:rPr lang="ar-LY" sz="1500" dirty="0">
                <a:solidFill>
                  <a:srgbClr val="0F172A"/>
                </a:solidFill>
                <a:latin typeface="IBM Plex Sans Arabic" pitchFamily="34" charset="0"/>
                <a:ea typeface="IBM Plex Sans Arabic" pitchFamily="34" charset="-122"/>
                <a:cs typeface="IBM Plex Sans Arabic" pitchFamily="34" charset="-120"/>
              </a:rPr>
              <a:t>أبوبكر شتوان</a:t>
            </a:r>
            <a:endParaRPr lang="en-US" sz="1500" dirty="0"/>
          </a:p>
        </p:txBody>
      </p:sp>
      <p:sp>
        <p:nvSpPr>
          <p:cNvPr id="11" name="Text 9"/>
          <p:cNvSpPr/>
          <p:nvPr/>
        </p:nvSpPr>
        <p:spPr>
          <a:xfrm>
            <a:off x="3457917" y="3804098"/>
            <a:ext cx="2743200" cy="1005840"/>
          </a:xfrm>
          <a:prstGeom prst="rect">
            <a:avLst/>
          </a:prstGeom>
          <a:noFill/>
          <a:ln/>
        </p:spPr>
        <p:txBody>
          <a:bodyPr wrap="square" rtlCol="0" anchor="ctr"/>
          <a:lstStyle/>
          <a:p>
            <a:pPr marL="0" indent="0" algn="r" rtl="1">
              <a:buNone/>
            </a:pPr>
            <a:r>
              <a:rPr lang="en-US" sz="1500" dirty="0">
                <a:solidFill>
                  <a:srgbClr val="71717A"/>
                </a:solidFill>
                <a:latin typeface="IBM Plex Sans Arabic" pitchFamily="34" charset="0"/>
                <a:ea typeface="IBM Plex Sans Arabic" pitchFamily="34" charset="-122"/>
                <a:cs typeface="IBM Plex Sans Arabic" pitchFamily="34" charset="-120"/>
              </a:rPr>
              <a:t>جامعة السلام الدولية</a:t>
            </a:r>
            <a:endParaRPr lang="en-US" sz="1500" dirty="0"/>
          </a:p>
          <a:p>
            <a:pPr marL="0" indent="0" algn="r" rtl="1">
              <a:buNone/>
            </a:pPr>
            <a:r>
              <a:rPr lang="en-US" sz="1500" dirty="0">
                <a:solidFill>
                  <a:srgbClr val="71717A"/>
                </a:solidFill>
                <a:latin typeface="IBM Plex Sans Arabic" pitchFamily="34" charset="0"/>
                <a:ea typeface="IBM Plex Sans Arabic" pitchFamily="34" charset="-122"/>
                <a:cs typeface="IBM Plex Sans Arabic" pitchFamily="34" charset="-120"/>
              </a:rPr>
              <a:t>2025 — 2026</a:t>
            </a:r>
            <a:endParaRPr lang="en-US" sz="1500" dirty="0"/>
          </a:p>
        </p:txBody>
      </p:sp>
      <p:pic>
        <p:nvPicPr>
          <p:cNvPr id="13" name="Picture 12">
            <a:extLst>
              <a:ext uri="{FF2B5EF4-FFF2-40B4-BE49-F238E27FC236}">
                <a16:creationId xmlns:a16="http://schemas.microsoft.com/office/drawing/2014/main" id="{073894C0-3750-58ED-874C-6AF54607513D}"/>
              </a:ext>
            </a:extLst>
          </p:cNvPr>
          <p:cNvPicPr>
            <a:picLocks noChangeAspect="1"/>
          </p:cNvPicPr>
          <p:nvPr/>
        </p:nvPicPr>
        <p:blipFill>
          <a:blip r:embed="rId3"/>
          <a:stretch>
            <a:fillRect/>
          </a:stretch>
        </p:blipFill>
        <p:spPr>
          <a:xfrm>
            <a:off x="1097280" y="3185542"/>
            <a:ext cx="2237638" cy="2205006"/>
          </a:xfrm>
          <a:prstGeom prst="rect">
            <a:avLst/>
          </a:prstGeom>
        </p:spPr>
      </p:pic>
      <p:pic>
        <p:nvPicPr>
          <p:cNvPr id="15" name="Picture 14">
            <a:extLst>
              <a:ext uri="{FF2B5EF4-FFF2-40B4-BE49-F238E27FC236}">
                <a16:creationId xmlns:a16="http://schemas.microsoft.com/office/drawing/2014/main" id="{E60666EF-A450-F3D4-F475-53E91BE8FC85}"/>
              </a:ext>
            </a:extLst>
          </p:cNvPr>
          <p:cNvPicPr>
            <a:picLocks noChangeAspect="1"/>
          </p:cNvPicPr>
          <p:nvPr/>
        </p:nvPicPr>
        <p:blipFill>
          <a:blip r:embed="rId4"/>
          <a:stretch>
            <a:fillRect/>
          </a:stretch>
        </p:blipFill>
        <p:spPr>
          <a:xfrm>
            <a:off x="1347431" y="1234440"/>
            <a:ext cx="1744219" cy="174421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47857"/>
          </a:solidFill>
          <a:ln w="12700">
            <a:solidFill>
              <a:srgbClr val="047857"/>
            </a:solidFill>
            <a:prstDash val="solid"/>
          </a:ln>
        </p:spPr>
        <p:txBody>
          <a:bodyPr/>
          <a:lstStyle/>
          <a:p>
            <a:endParaRPr lang="en-US"/>
          </a:p>
        </p:txBody>
      </p:sp>
      <p:sp>
        <p:nvSpPr>
          <p:cNvPr id="3" name="Shape 1"/>
          <p:cNvSpPr/>
          <p:nvPr/>
        </p:nvSpPr>
        <p:spPr>
          <a:xfrm>
            <a:off x="0" y="6748272"/>
            <a:ext cx="12191695" cy="109728"/>
          </a:xfrm>
          <a:prstGeom prst="rect">
            <a:avLst/>
          </a:prstGeom>
          <a:solidFill>
            <a:srgbClr val="F59E0B"/>
          </a:solidFill>
          <a:ln w="12700">
            <a:solidFill>
              <a:srgbClr val="F59E0B"/>
            </a:solidFill>
            <a:prstDash val="solid"/>
          </a:ln>
        </p:spPr>
        <p:txBody>
          <a:bodyPr/>
          <a:lstStyle/>
          <a:p>
            <a:endParaRPr lang="en-US"/>
          </a:p>
        </p:txBody>
      </p:sp>
      <p:sp>
        <p:nvSpPr>
          <p:cNvPr id="5" name="Shape 3"/>
          <p:cNvSpPr/>
          <p:nvPr/>
        </p:nvSpPr>
        <p:spPr>
          <a:xfrm>
            <a:off x="411480" y="502920"/>
            <a:ext cx="11384280" cy="6035040"/>
          </a:xfrm>
          <a:prstGeom prst="roundRect">
            <a:avLst>
              <a:gd name="adj" fmla="val 10792"/>
            </a:avLst>
          </a:prstGeom>
          <a:solidFill>
            <a:srgbClr val="FFFFFF"/>
          </a:solidFill>
          <a:ln w="12700">
            <a:solidFill>
              <a:srgbClr val="E4E4E7"/>
            </a:solidFill>
            <a:prstDash val="solid"/>
          </a:ln>
          <a:effectLst>
            <a:outerShdw blurRad="50800" dist="50800" dir="2700000" algn="bl" rotWithShape="0">
              <a:srgbClr val="B6BCC6">
                <a:alpha val="18000"/>
              </a:srgbClr>
            </a:outerShdw>
          </a:effectLst>
        </p:spPr>
        <p:txBody>
          <a:bodyPr/>
          <a:lstStyle/>
          <a:p>
            <a:endParaRPr lang="en-US"/>
          </a:p>
        </p:txBody>
      </p:sp>
      <p:sp>
        <p:nvSpPr>
          <p:cNvPr id="6" name="Shape 4"/>
          <p:cNvSpPr/>
          <p:nvPr/>
        </p:nvSpPr>
        <p:spPr>
          <a:xfrm>
            <a:off x="640080" y="731520"/>
            <a:ext cx="10927080" cy="749808"/>
          </a:xfrm>
          <a:prstGeom prst="roundRect">
            <a:avLst>
              <a:gd name="adj" fmla="val 50000"/>
            </a:avLst>
          </a:prstGeom>
          <a:solidFill>
            <a:srgbClr val="ECFDF5"/>
          </a:solidFill>
          <a:ln w="12700">
            <a:solidFill>
              <a:srgbClr val="ECFDF5"/>
            </a:solidFill>
            <a:prstDash val="solid"/>
          </a:ln>
        </p:spPr>
        <p:txBody>
          <a:bodyPr/>
          <a:lstStyle/>
          <a:p>
            <a:endParaRPr lang="en-US"/>
          </a:p>
        </p:txBody>
      </p:sp>
      <p:sp>
        <p:nvSpPr>
          <p:cNvPr id="7" name="Text 5"/>
          <p:cNvSpPr/>
          <p:nvPr/>
        </p:nvSpPr>
        <p:spPr>
          <a:xfrm>
            <a:off x="868680" y="941832"/>
            <a:ext cx="10469880" cy="365760"/>
          </a:xfrm>
          <a:prstGeom prst="rect">
            <a:avLst/>
          </a:prstGeom>
          <a:noFill/>
          <a:ln/>
        </p:spPr>
        <p:txBody>
          <a:bodyPr wrap="square" rtlCol="0" anchor="ctr"/>
          <a:lstStyle/>
          <a:p>
            <a:pPr marL="0" indent="0" algn="r" rtl="1">
              <a:buNone/>
            </a:pPr>
            <a:r>
              <a:rPr lang="en-US" sz="2600" b="1" dirty="0">
                <a:solidFill>
                  <a:srgbClr val="047857"/>
                </a:solidFill>
                <a:latin typeface="IBM Plex Sans Arabic" pitchFamily="34" charset="0"/>
                <a:ea typeface="IBM Plex Sans Arabic" pitchFamily="34" charset="-122"/>
                <a:cs typeface="IBM Plex Sans Arabic" pitchFamily="34" charset="-120"/>
              </a:rPr>
              <a:t>📌  </a:t>
            </a:r>
            <a:r>
              <a:rPr lang="ar-LY" sz="2600" b="1" dirty="0">
                <a:solidFill>
                  <a:srgbClr val="047857"/>
                </a:solidFill>
                <a:latin typeface="IBM Plex Sans Arabic" pitchFamily="34" charset="0"/>
                <a:ea typeface="IBM Plex Sans Arabic" pitchFamily="34" charset="-122"/>
                <a:cs typeface="IBM Plex Sans Arabic" pitchFamily="34" charset="-120"/>
              </a:rPr>
              <a:t> ال</a:t>
            </a:r>
            <a:r>
              <a:rPr lang="en-US" sz="2600" b="1" dirty="0" err="1">
                <a:solidFill>
                  <a:srgbClr val="047857"/>
                </a:solidFill>
                <a:latin typeface="IBM Plex Sans Arabic" pitchFamily="34" charset="0"/>
                <a:ea typeface="IBM Plex Sans Arabic" pitchFamily="34" charset="-122"/>
                <a:cs typeface="IBM Plex Sans Arabic" pitchFamily="34" charset="-120"/>
              </a:rPr>
              <a:t>مقدمة</a:t>
            </a:r>
            <a:endParaRPr lang="en-US" sz="2600" dirty="0"/>
          </a:p>
        </p:txBody>
      </p:sp>
      <p:sp>
        <p:nvSpPr>
          <p:cNvPr id="8" name="Text 6"/>
          <p:cNvSpPr/>
          <p:nvPr/>
        </p:nvSpPr>
        <p:spPr>
          <a:xfrm>
            <a:off x="960120" y="1600200"/>
            <a:ext cx="10287000" cy="4572000"/>
          </a:xfrm>
          <a:prstGeom prst="rect">
            <a:avLst/>
          </a:prstGeom>
          <a:noFill/>
          <a:ln/>
        </p:spPr>
        <p:txBody>
          <a:bodyPr wrap="square" rtlCol="0" anchor="t"/>
          <a:lstStyle/>
          <a:p>
            <a:pPr marL="0" indent="0" algn="r" rtl="1">
              <a:buNone/>
            </a:pPr>
            <a:r>
              <a:rPr lang="en-US" sz="1900" dirty="0" err="1">
                <a:solidFill>
                  <a:srgbClr val="0F172A"/>
                </a:solidFill>
                <a:latin typeface="IBM Plex Sans Arabic" pitchFamily="34" charset="0"/>
                <a:ea typeface="IBM Plex Sans Arabic" pitchFamily="34" charset="-122"/>
                <a:cs typeface="IBM Plex Sans Arabic" pitchFamily="34" charset="-120"/>
              </a:rPr>
              <a:t>شهد</a:t>
            </a:r>
            <a:r>
              <a:rPr lang="en-US" sz="1900" dirty="0">
                <a:solidFill>
                  <a:srgbClr val="0F172A"/>
                </a:solidFill>
                <a:latin typeface="IBM Plex Sans Arabic" pitchFamily="34" charset="0"/>
                <a:ea typeface="IBM Plex Sans Arabic" pitchFamily="34" charset="-122"/>
                <a:cs typeface="IBM Plex Sans Arabic" pitchFamily="34" charset="-120"/>
              </a:rPr>
              <a:t> قطاع المقاهي نموًا كبيرًا، مما أدى إلى الحاجة </a:t>
            </a:r>
            <a:r>
              <a:rPr lang="en-US" sz="1900" dirty="0" err="1">
                <a:solidFill>
                  <a:srgbClr val="0F172A"/>
                </a:solidFill>
                <a:latin typeface="IBM Plex Sans Arabic" pitchFamily="34" charset="0"/>
                <a:ea typeface="IBM Plex Sans Arabic" pitchFamily="34" charset="-122"/>
                <a:cs typeface="IBM Plex Sans Arabic" pitchFamily="34" charset="-120"/>
              </a:rPr>
              <a:t>إلى</a:t>
            </a:r>
            <a:r>
              <a:rPr lang="en-US" sz="1900" dirty="0">
                <a:solidFill>
                  <a:srgbClr val="0F172A"/>
                </a:solidFill>
                <a:latin typeface="IBM Plex Sans Arabic" pitchFamily="34" charset="0"/>
                <a:ea typeface="IBM Plex Sans Arabic" pitchFamily="34" charset="-122"/>
                <a:cs typeface="IBM Plex Sans Arabic" pitchFamily="34" charset="-120"/>
              </a:rPr>
              <a:t> </a:t>
            </a:r>
            <a:r>
              <a:rPr lang="en-US" sz="1900" dirty="0" err="1">
                <a:solidFill>
                  <a:srgbClr val="0F172A"/>
                </a:solidFill>
                <a:latin typeface="IBM Plex Sans Arabic" pitchFamily="34" charset="0"/>
                <a:ea typeface="IBM Plex Sans Arabic" pitchFamily="34" charset="-122"/>
                <a:cs typeface="IBM Plex Sans Arabic" pitchFamily="34" charset="-120"/>
              </a:rPr>
              <a:t>أنظمة</a:t>
            </a:r>
            <a:r>
              <a:rPr lang="ar-LY" sz="1900" dirty="0">
                <a:solidFill>
                  <a:srgbClr val="0F172A"/>
                </a:solidFill>
                <a:latin typeface="IBM Plex Sans Arabic" pitchFamily="34" charset="0"/>
                <a:ea typeface="IBM Plex Sans Arabic" pitchFamily="34" charset="-122"/>
                <a:cs typeface="IBM Plex Sans Arabic" pitchFamily="34" charset="-120"/>
              </a:rPr>
              <a:t> تقنية</a:t>
            </a:r>
            <a:r>
              <a:rPr lang="en-US" sz="1900" dirty="0">
                <a:solidFill>
                  <a:srgbClr val="0F172A"/>
                </a:solidFill>
                <a:latin typeface="IBM Plex Sans Arabic" pitchFamily="34" charset="0"/>
                <a:ea typeface="IBM Plex Sans Arabic" pitchFamily="34" charset="-122"/>
                <a:cs typeface="IBM Plex Sans Arabic" pitchFamily="34" charset="-120"/>
              </a:rPr>
              <a:t> </a:t>
            </a:r>
            <a:r>
              <a:rPr lang="en-US" sz="1900" dirty="0" err="1">
                <a:solidFill>
                  <a:srgbClr val="0F172A"/>
                </a:solidFill>
                <a:latin typeface="IBM Plex Sans Arabic" pitchFamily="34" charset="0"/>
                <a:ea typeface="IBM Plex Sans Arabic" pitchFamily="34" charset="-122"/>
                <a:cs typeface="IBM Plex Sans Arabic" pitchFamily="34" charset="-120"/>
              </a:rPr>
              <a:t>حديثة</a:t>
            </a:r>
            <a:r>
              <a:rPr lang="en-US" sz="1900" dirty="0">
                <a:solidFill>
                  <a:srgbClr val="0F172A"/>
                </a:solidFill>
                <a:latin typeface="IBM Plex Sans Arabic" pitchFamily="34" charset="0"/>
                <a:ea typeface="IBM Plex Sans Arabic" pitchFamily="34" charset="-122"/>
                <a:cs typeface="IBM Plex Sans Arabic" pitchFamily="34" charset="-120"/>
              </a:rPr>
              <a:t> </a:t>
            </a:r>
            <a:r>
              <a:rPr lang="en-US" sz="1900" dirty="0" err="1">
                <a:solidFill>
                  <a:srgbClr val="0F172A"/>
                </a:solidFill>
                <a:latin typeface="IBM Plex Sans Arabic" pitchFamily="34" charset="0"/>
                <a:ea typeface="IBM Plex Sans Arabic" pitchFamily="34" charset="-122"/>
                <a:cs typeface="IBM Plex Sans Arabic" pitchFamily="34" charset="-120"/>
              </a:rPr>
              <a:t>لإدارة</a:t>
            </a:r>
            <a:r>
              <a:rPr lang="ar-LY" sz="1900" dirty="0">
                <a:solidFill>
                  <a:srgbClr val="0F172A"/>
                </a:solidFill>
                <a:latin typeface="IBM Plex Sans Arabic" pitchFamily="34" charset="0"/>
                <a:ea typeface="IBM Plex Sans Arabic" pitchFamily="34" charset="-122"/>
                <a:cs typeface="IBM Plex Sans Arabic" pitchFamily="34" charset="-120"/>
              </a:rPr>
              <a:t> ، </a:t>
            </a:r>
            <a:r>
              <a:rPr lang="en-US" sz="1900" dirty="0" err="1">
                <a:solidFill>
                  <a:srgbClr val="0F172A"/>
                </a:solidFill>
                <a:latin typeface="IBM Plex Sans Arabic" pitchFamily="34" charset="0"/>
                <a:ea typeface="IBM Plex Sans Arabic" pitchFamily="34" charset="-122"/>
                <a:cs typeface="IBM Plex Sans Arabic" pitchFamily="34" charset="-120"/>
              </a:rPr>
              <a:t>لكن</a:t>
            </a:r>
            <a:r>
              <a:rPr lang="en-US" sz="1900" dirty="0">
                <a:solidFill>
                  <a:srgbClr val="0F172A"/>
                </a:solidFill>
                <a:latin typeface="IBM Plex Sans Arabic" pitchFamily="34" charset="0"/>
                <a:ea typeface="IBM Plex Sans Arabic" pitchFamily="34" charset="-122"/>
                <a:cs typeface="IBM Plex Sans Arabic" pitchFamily="34" charset="-120"/>
              </a:rPr>
              <a:t> السوق الليبي يفتقر </a:t>
            </a:r>
            <a:r>
              <a:rPr lang="en-US" sz="1900" dirty="0" err="1">
                <a:solidFill>
                  <a:srgbClr val="0F172A"/>
                </a:solidFill>
                <a:latin typeface="IBM Plex Sans Arabic" pitchFamily="34" charset="0"/>
                <a:ea typeface="IBM Plex Sans Arabic" pitchFamily="34" charset="-122"/>
                <a:cs typeface="IBM Plex Sans Arabic" pitchFamily="34" charset="-120"/>
              </a:rPr>
              <a:t>إلى</a:t>
            </a:r>
            <a:r>
              <a:rPr lang="en-US" sz="1900" dirty="0">
                <a:solidFill>
                  <a:srgbClr val="0F172A"/>
                </a:solidFill>
                <a:latin typeface="IBM Plex Sans Arabic" pitchFamily="34" charset="0"/>
                <a:ea typeface="IBM Plex Sans Arabic" pitchFamily="34" charset="-122"/>
                <a:cs typeface="IBM Plex Sans Arabic" pitchFamily="34" charset="-120"/>
              </a:rPr>
              <a:t> </a:t>
            </a:r>
            <a:r>
              <a:rPr lang="ar-LY" sz="1900" dirty="0">
                <a:solidFill>
                  <a:srgbClr val="0F172A"/>
                </a:solidFill>
                <a:latin typeface="IBM Plex Sans Arabic" pitchFamily="34" charset="0"/>
                <a:ea typeface="IBM Plex Sans Arabic" pitchFamily="34" charset="-122"/>
                <a:cs typeface="IBM Plex Sans Arabic" pitchFamily="34" charset="-120"/>
              </a:rPr>
              <a:t>الأنظمة</a:t>
            </a:r>
            <a:r>
              <a:rPr lang="en-US" sz="1900" dirty="0">
                <a:solidFill>
                  <a:srgbClr val="0F172A"/>
                </a:solidFill>
                <a:latin typeface="IBM Plex Sans Arabic" pitchFamily="34" charset="0"/>
                <a:ea typeface="IBM Plex Sans Arabic" pitchFamily="34" charset="-122"/>
                <a:cs typeface="IBM Plex Sans Arabic" pitchFamily="34" charset="-120"/>
              </a:rPr>
              <a:t> </a:t>
            </a:r>
            <a:r>
              <a:rPr lang="ar-LY" sz="1900" dirty="0">
                <a:solidFill>
                  <a:srgbClr val="0F172A"/>
                </a:solidFill>
                <a:latin typeface="IBM Plex Sans Arabic" pitchFamily="34" charset="0"/>
                <a:ea typeface="IBM Plex Sans Arabic" pitchFamily="34" charset="-122"/>
                <a:cs typeface="IBM Plex Sans Arabic" pitchFamily="34" charset="-120"/>
              </a:rPr>
              <a:t>ال</a:t>
            </a:r>
            <a:r>
              <a:rPr lang="en-US" sz="1900" dirty="0" err="1">
                <a:solidFill>
                  <a:srgbClr val="0F172A"/>
                </a:solidFill>
                <a:latin typeface="IBM Plex Sans Arabic" pitchFamily="34" charset="0"/>
                <a:ea typeface="IBM Plex Sans Arabic" pitchFamily="34" charset="-122"/>
                <a:cs typeface="IBM Plex Sans Arabic" pitchFamily="34" charset="-120"/>
              </a:rPr>
              <a:t>سحابي</a:t>
            </a:r>
            <a:r>
              <a:rPr lang="ar-LY" sz="1900" dirty="0">
                <a:solidFill>
                  <a:srgbClr val="0F172A"/>
                </a:solidFill>
                <a:latin typeface="IBM Plex Sans Arabic" pitchFamily="34" charset="0"/>
                <a:ea typeface="IBM Plex Sans Arabic" pitchFamily="34" charset="-122"/>
                <a:cs typeface="IBM Plex Sans Arabic" pitchFamily="34" charset="-120"/>
              </a:rPr>
              <a:t>ة</a:t>
            </a:r>
            <a:r>
              <a:rPr lang="en-US" sz="1900" dirty="0">
                <a:solidFill>
                  <a:srgbClr val="0F172A"/>
                </a:solidFill>
                <a:latin typeface="IBM Plex Sans Arabic" pitchFamily="34" charset="0"/>
                <a:ea typeface="IBM Plex Sans Arabic" pitchFamily="34" charset="-122"/>
                <a:cs typeface="IBM Plex Sans Arabic" pitchFamily="34" charset="-120"/>
              </a:rPr>
              <a:t> </a:t>
            </a:r>
            <a:r>
              <a:rPr lang="ar-LY" sz="1900" dirty="0">
                <a:solidFill>
                  <a:srgbClr val="0F172A"/>
                </a:solidFill>
                <a:latin typeface="IBM Plex Sans Arabic" pitchFamily="34" charset="0"/>
                <a:ea typeface="IBM Plex Sans Arabic" pitchFamily="34" charset="-122"/>
                <a:cs typeface="IBM Plex Sans Arabic" pitchFamily="34" charset="-120"/>
              </a:rPr>
              <a:t>ال</a:t>
            </a:r>
            <a:r>
              <a:rPr lang="en-US" sz="1900" dirty="0" err="1">
                <a:solidFill>
                  <a:srgbClr val="0F172A"/>
                </a:solidFill>
                <a:latin typeface="IBM Plex Sans Arabic" pitchFamily="34" charset="0"/>
                <a:ea typeface="IBM Plex Sans Arabic" pitchFamily="34" charset="-122"/>
                <a:cs typeface="IBM Plex Sans Arabic" pitchFamily="34" charset="-120"/>
              </a:rPr>
              <a:t>متكامل</a:t>
            </a:r>
            <a:r>
              <a:rPr lang="ar-LY" sz="1900" dirty="0">
                <a:solidFill>
                  <a:srgbClr val="0F172A"/>
                </a:solidFill>
                <a:latin typeface="IBM Plex Sans Arabic" pitchFamily="34" charset="0"/>
                <a:ea typeface="IBM Plex Sans Arabic" pitchFamily="34" charset="-122"/>
                <a:cs typeface="IBM Plex Sans Arabic" pitchFamily="34" charset="-120"/>
              </a:rPr>
              <a:t>ة التي</a:t>
            </a:r>
            <a:r>
              <a:rPr lang="en-US" sz="1900" dirty="0">
                <a:solidFill>
                  <a:srgbClr val="0F172A"/>
                </a:solidFill>
                <a:latin typeface="IBM Plex Sans Arabic" pitchFamily="34" charset="0"/>
                <a:ea typeface="IBM Plex Sans Arabic" pitchFamily="34" charset="-122"/>
                <a:cs typeface="IBM Plex Sans Arabic" pitchFamily="34" charset="-120"/>
              </a:rPr>
              <a:t> </a:t>
            </a:r>
            <a:r>
              <a:rPr lang="ar-LY" sz="1900" dirty="0">
                <a:solidFill>
                  <a:srgbClr val="0F172A"/>
                </a:solidFill>
                <a:latin typeface="IBM Plex Sans Arabic" pitchFamily="34" charset="0"/>
                <a:ea typeface="IBM Plex Sans Arabic" pitchFamily="34" charset="-122"/>
                <a:cs typeface="IBM Plex Sans Arabic" pitchFamily="34" charset="-120"/>
              </a:rPr>
              <a:t>ت</a:t>
            </a:r>
            <a:r>
              <a:rPr lang="en-US" sz="1900" dirty="0" err="1">
                <a:solidFill>
                  <a:srgbClr val="0F172A"/>
                </a:solidFill>
                <a:latin typeface="IBM Plex Sans Arabic" pitchFamily="34" charset="0"/>
                <a:ea typeface="IBM Plex Sans Arabic" pitchFamily="34" charset="-122"/>
                <a:cs typeface="IBM Plex Sans Arabic" pitchFamily="34" charset="-120"/>
              </a:rPr>
              <a:t>عمل</a:t>
            </a:r>
            <a:r>
              <a:rPr lang="en-US" sz="1900" dirty="0">
                <a:solidFill>
                  <a:srgbClr val="0F172A"/>
                </a:solidFill>
                <a:latin typeface="IBM Plex Sans Arabic" pitchFamily="34" charset="0"/>
                <a:ea typeface="IBM Plex Sans Arabic" pitchFamily="34" charset="-122"/>
                <a:cs typeface="IBM Plex Sans Arabic" pitchFamily="34" charset="-120"/>
              </a:rPr>
              <a:t> بنظام </a:t>
            </a:r>
            <a:r>
              <a:rPr lang="en-US" sz="1900" dirty="0" err="1">
                <a:solidFill>
                  <a:srgbClr val="0F172A"/>
                </a:solidFill>
                <a:latin typeface="IBM Plex Sans Arabic" pitchFamily="34" charset="0"/>
                <a:ea typeface="IBM Plex Sans Arabic" pitchFamily="34" charset="-122"/>
                <a:cs typeface="IBM Plex Sans Arabic" pitchFamily="34" charset="-120"/>
              </a:rPr>
              <a:t>الاشتراكات</a:t>
            </a:r>
            <a:r>
              <a:rPr lang="en-US" sz="1900" dirty="0">
                <a:solidFill>
                  <a:srgbClr val="0F172A"/>
                </a:solidFill>
                <a:latin typeface="IBM Plex Sans Arabic" pitchFamily="34" charset="0"/>
                <a:ea typeface="IBM Plex Sans Arabic" pitchFamily="34" charset="-122"/>
                <a:cs typeface="IBM Plex Sans Arabic" pitchFamily="34" charset="-120"/>
              </a:rPr>
              <a:t> و</a:t>
            </a:r>
            <a:r>
              <a:rPr lang="ar-LY" sz="1900" dirty="0">
                <a:solidFill>
                  <a:srgbClr val="0F172A"/>
                </a:solidFill>
                <a:latin typeface="IBM Plex Sans Arabic" pitchFamily="34" charset="0"/>
                <a:ea typeface="IBM Plex Sans Arabic" pitchFamily="34" charset="-122"/>
                <a:cs typeface="IBM Plex Sans Arabic" pitchFamily="34" charset="-120"/>
              </a:rPr>
              <a:t>ت</a:t>
            </a:r>
            <a:r>
              <a:rPr lang="en-US" sz="1900" dirty="0" err="1">
                <a:solidFill>
                  <a:srgbClr val="0F172A"/>
                </a:solidFill>
                <a:latin typeface="IBM Plex Sans Arabic" pitchFamily="34" charset="0"/>
                <a:ea typeface="IBM Plex Sans Arabic" pitchFamily="34" charset="-122"/>
                <a:cs typeface="IBM Plex Sans Arabic" pitchFamily="34" charset="-120"/>
              </a:rPr>
              <a:t>دعم</a:t>
            </a:r>
            <a:r>
              <a:rPr lang="en-US" sz="1900" dirty="0">
                <a:solidFill>
                  <a:srgbClr val="0F172A"/>
                </a:solidFill>
                <a:latin typeface="IBM Plex Sans Arabic" pitchFamily="34" charset="0"/>
                <a:ea typeface="IBM Plex Sans Arabic" pitchFamily="34" charset="-122"/>
                <a:cs typeface="IBM Plex Sans Arabic" pitchFamily="34" charset="-120"/>
              </a:rPr>
              <a:t> </a:t>
            </a:r>
            <a:r>
              <a:rPr lang="en-US" sz="1900" dirty="0" err="1">
                <a:solidFill>
                  <a:srgbClr val="0F172A"/>
                </a:solidFill>
                <a:latin typeface="IBM Plex Sans Arabic" pitchFamily="34" charset="0"/>
                <a:ea typeface="IBM Plex Sans Arabic" pitchFamily="34" charset="-122"/>
                <a:cs typeface="IBM Plex Sans Arabic" pitchFamily="34" charset="-120"/>
              </a:rPr>
              <a:t>تعدد</a:t>
            </a:r>
            <a:r>
              <a:rPr lang="en-US" sz="1900" dirty="0">
                <a:solidFill>
                  <a:srgbClr val="0F172A"/>
                </a:solidFill>
                <a:latin typeface="IBM Plex Sans Arabic" pitchFamily="34" charset="0"/>
                <a:ea typeface="IBM Plex Sans Arabic" pitchFamily="34" charset="-122"/>
                <a:cs typeface="IBM Plex Sans Arabic" pitchFamily="34" charset="-120"/>
              </a:rPr>
              <a:t> </a:t>
            </a:r>
            <a:r>
              <a:rPr lang="en-US" sz="1900" dirty="0" err="1">
                <a:solidFill>
                  <a:srgbClr val="0F172A"/>
                </a:solidFill>
                <a:latin typeface="IBM Plex Sans Arabic" pitchFamily="34" charset="0"/>
                <a:ea typeface="IBM Plex Sans Arabic" pitchFamily="34" charset="-122"/>
                <a:cs typeface="IBM Plex Sans Arabic" pitchFamily="34" charset="-120"/>
              </a:rPr>
              <a:t>الفروع</a:t>
            </a:r>
            <a:r>
              <a:rPr lang="ar-LY" sz="1900" dirty="0">
                <a:solidFill>
                  <a:srgbClr val="0F172A"/>
                </a:solidFill>
                <a:latin typeface="IBM Plex Sans Arabic" pitchFamily="34" charset="0"/>
                <a:ea typeface="IBM Plex Sans Arabic" pitchFamily="34" charset="-122"/>
                <a:cs typeface="IBM Plex Sans Arabic" pitchFamily="34" charset="-120"/>
              </a:rPr>
              <a:t> ، </a:t>
            </a:r>
            <a:r>
              <a:rPr lang="en-US" sz="1900" dirty="0" err="1">
                <a:solidFill>
                  <a:srgbClr val="0F172A"/>
                </a:solidFill>
                <a:latin typeface="IBM Plex Sans Arabic" pitchFamily="34" charset="0"/>
                <a:ea typeface="IBM Plex Sans Arabic" pitchFamily="34" charset="-122"/>
                <a:cs typeface="IBM Plex Sans Arabic" pitchFamily="34" charset="-120"/>
              </a:rPr>
              <a:t>لذلك</a:t>
            </a:r>
            <a:r>
              <a:rPr lang="en-US" sz="1900" dirty="0">
                <a:solidFill>
                  <a:srgbClr val="0F172A"/>
                </a:solidFill>
                <a:latin typeface="IBM Plex Sans Arabic" pitchFamily="34" charset="0"/>
                <a:ea typeface="IBM Plex Sans Arabic" pitchFamily="34" charset="-122"/>
                <a:cs typeface="IBM Plex Sans Arabic" pitchFamily="34" charset="-120"/>
              </a:rPr>
              <a:t> تم </a:t>
            </a:r>
            <a:r>
              <a:rPr lang="en-US" sz="1900" dirty="0" err="1">
                <a:solidFill>
                  <a:srgbClr val="0F172A"/>
                </a:solidFill>
                <a:latin typeface="IBM Plex Sans Arabic" pitchFamily="34" charset="0"/>
                <a:ea typeface="IBM Plex Sans Arabic" pitchFamily="34" charset="-122"/>
                <a:cs typeface="IBM Plex Sans Arabic" pitchFamily="34" charset="-120"/>
              </a:rPr>
              <a:t>تطوير</a:t>
            </a:r>
            <a:r>
              <a:rPr lang="en-US" sz="1900" dirty="0">
                <a:solidFill>
                  <a:srgbClr val="0F172A"/>
                </a:solidFill>
                <a:latin typeface="IBM Plex Sans Arabic" pitchFamily="34" charset="0"/>
                <a:ea typeface="IBM Plex Sans Arabic" pitchFamily="34" charset="-122"/>
                <a:cs typeface="IBM Plex Sans Arabic" pitchFamily="34" charset="-120"/>
              </a:rPr>
              <a:t> </a:t>
            </a:r>
            <a:r>
              <a:rPr lang="en-US" sz="1900" dirty="0" err="1">
                <a:solidFill>
                  <a:srgbClr val="0F172A"/>
                </a:solidFill>
                <a:latin typeface="IBM Plex Sans Arabic" pitchFamily="34" charset="0"/>
                <a:ea typeface="IBM Plex Sans Arabic" pitchFamily="34" charset="-122"/>
                <a:cs typeface="IBM Plex Sans Arabic" pitchFamily="34" charset="-120"/>
              </a:rPr>
              <a:t>نظام</a:t>
            </a:r>
            <a:r>
              <a:rPr lang="ar-LY" sz="1900" dirty="0">
                <a:solidFill>
                  <a:srgbClr val="0F172A"/>
                </a:solidFill>
                <a:latin typeface="IBM Plex Sans Arabic" pitchFamily="34" charset="0"/>
                <a:ea typeface="IBM Plex Sans Arabic" pitchFamily="34" charset="-122"/>
                <a:cs typeface="IBM Plex Sans Arabic" pitchFamily="34" charset="-120"/>
              </a:rPr>
              <a:t> </a:t>
            </a:r>
            <a:r>
              <a:rPr lang="en-US" sz="1900" b="1" dirty="0" err="1">
                <a:solidFill>
                  <a:srgbClr val="3C7665"/>
                </a:solidFill>
                <a:latin typeface="IBM Plex Sans Arabic" pitchFamily="34" charset="0"/>
                <a:ea typeface="IBM Plex Sans Arabic" pitchFamily="34" charset="-122"/>
                <a:cs typeface="IBM Plex Sans Arabic" pitchFamily="34" charset="-120"/>
              </a:rPr>
              <a:t>CafeFlow</a:t>
            </a:r>
            <a:r>
              <a:rPr lang="ar-LY" sz="1900" dirty="0">
                <a:solidFill>
                  <a:srgbClr val="0F172A"/>
                </a:solidFill>
                <a:latin typeface="IBM Plex Sans Arabic" pitchFamily="34" charset="0"/>
                <a:ea typeface="IBM Plex Sans Arabic" pitchFamily="34" charset="-122"/>
                <a:cs typeface="IBM Plex Sans Arabic" pitchFamily="34" charset="-120"/>
              </a:rPr>
              <a:t> </a:t>
            </a:r>
            <a:r>
              <a:rPr lang="en-US" sz="1900" dirty="0">
                <a:solidFill>
                  <a:srgbClr val="0F172A"/>
                </a:solidFill>
                <a:latin typeface="IBM Plex Sans Arabic" pitchFamily="34" charset="0"/>
                <a:ea typeface="IBM Plex Sans Arabic" pitchFamily="34" charset="-122"/>
                <a:cs typeface="IBM Plex Sans Arabic" pitchFamily="34" charset="-120"/>
              </a:rPr>
              <a:t> كحل رقمي </a:t>
            </a:r>
            <a:r>
              <a:rPr lang="en-US" sz="1900" dirty="0" err="1">
                <a:solidFill>
                  <a:srgbClr val="0F172A"/>
                </a:solidFill>
                <a:latin typeface="IBM Plex Sans Arabic" pitchFamily="34" charset="0"/>
                <a:ea typeface="IBM Plex Sans Arabic" pitchFamily="34" charset="-122"/>
                <a:cs typeface="IBM Plex Sans Arabic" pitchFamily="34" charset="-120"/>
              </a:rPr>
              <a:t>حديث</a:t>
            </a:r>
            <a:r>
              <a:rPr lang="en-US" sz="1900" dirty="0">
                <a:solidFill>
                  <a:srgbClr val="0F172A"/>
                </a:solidFill>
                <a:latin typeface="IBM Plex Sans Arabic" pitchFamily="34" charset="0"/>
                <a:ea typeface="IBM Plex Sans Arabic" pitchFamily="34" charset="-122"/>
                <a:cs typeface="IBM Plex Sans Arabic" pitchFamily="34" charset="-120"/>
              </a:rPr>
              <a:t>.</a:t>
            </a:r>
            <a:endParaRPr lang="ar-LY" sz="1900" dirty="0">
              <a:solidFill>
                <a:srgbClr val="0F172A"/>
              </a:solidFill>
              <a:latin typeface="IBM Plex Sans Arabic" pitchFamily="34" charset="0"/>
              <a:ea typeface="IBM Plex Sans Arabic" pitchFamily="34" charset="-122"/>
              <a:cs typeface="IBM Plex Sans Arabic" pitchFamily="34" charset="-120"/>
            </a:endParaRPr>
          </a:p>
          <a:p>
            <a:pPr marL="0" indent="0" algn="r" rtl="1">
              <a:buNone/>
            </a:pPr>
            <a:endParaRPr lang="en-US" sz="1900" dirty="0">
              <a:solidFill>
                <a:srgbClr val="0F172A"/>
              </a:solidFill>
              <a:latin typeface="IBM Plex Sans Arabic" pitchFamily="34" charset="0"/>
              <a:cs typeface="IBM Plex Sans Arabic" pitchFamily="34" charset="-120"/>
            </a:endParaRPr>
          </a:p>
          <a:p>
            <a:pPr algn="r" rtl="1"/>
            <a:r>
              <a:rPr lang="ar-LY" sz="1900" dirty="0">
                <a:solidFill>
                  <a:srgbClr val="0F172A"/>
                </a:solidFill>
                <a:latin typeface="IBM Plex Sans Arabic" pitchFamily="34" charset="0"/>
                <a:cs typeface="IBM Plex Sans Arabic" pitchFamily="34" charset="-120"/>
              </a:rPr>
              <a:t>يهدف المشروع إلى تطوير نظام سحابي يعمل بنظام الاشتراكات </a:t>
            </a:r>
            <a:r>
              <a:rPr lang="en-US" sz="1900" b="1" dirty="0">
                <a:solidFill>
                  <a:srgbClr val="0F172A"/>
                </a:solidFill>
                <a:latin typeface="IBM Plex Sans Arabic" pitchFamily="34" charset="0"/>
                <a:cs typeface="IBM Plex Sans Arabic" pitchFamily="34" charset="-120"/>
              </a:rPr>
              <a:t>( </a:t>
            </a:r>
            <a:r>
              <a:rPr lang="en-US" sz="1900" b="1" dirty="0">
                <a:solidFill>
                  <a:srgbClr val="3C7665"/>
                </a:solidFill>
                <a:latin typeface="IBM Plex Sans Arabic" pitchFamily="34" charset="0"/>
                <a:cs typeface="IBM Plex Sans Arabic" pitchFamily="34" charset="-120"/>
              </a:rPr>
              <a:t>SaaS – Software as a Service </a:t>
            </a:r>
            <a:r>
              <a:rPr lang="en-US" sz="1900" b="1" dirty="0">
                <a:solidFill>
                  <a:srgbClr val="0F172A"/>
                </a:solidFill>
                <a:latin typeface="IBM Plex Sans Arabic" pitchFamily="34" charset="0"/>
                <a:cs typeface="IBM Plex Sans Arabic" pitchFamily="34" charset="-120"/>
              </a:rPr>
              <a:t>)</a:t>
            </a:r>
            <a:r>
              <a:rPr lang="ar-LY" sz="1900" b="1" dirty="0">
                <a:solidFill>
                  <a:srgbClr val="0F172A"/>
                </a:solidFill>
                <a:latin typeface="IBM Plex Sans Arabic" pitchFamily="34" charset="0"/>
                <a:cs typeface="IBM Plex Sans Arabic" pitchFamily="34" charset="-120"/>
              </a:rPr>
              <a:t> </a:t>
            </a:r>
            <a:r>
              <a:rPr lang="ar-LY" sz="1900" dirty="0">
                <a:solidFill>
                  <a:srgbClr val="0F172A"/>
                </a:solidFill>
                <a:latin typeface="IBM Plex Sans Arabic" pitchFamily="34" charset="0"/>
                <a:cs typeface="IBM Plex Sans Arabic" pitchFamily="34" charset="-120"/>
              </a:rPr>
              <a:t>لإدارة المقاهي متعددة الفروع، حيث يوفر منصة موحدة تمكّن مالك المقهى من إدارة جميع عملياته اليومية مثل الطلبات، المخزون، الموظفين، والتقارير من خلال واجهة مركزية.</a:t>
            </a:r>
          </a:p>
          <a:p>
            <a:pPr algn="r" rtl="1"/>
            <a:endParaRPr lang="ar-LY" sz="1900" dirty="0">
              <a:solidFill>
                <a:srgbClr val="0F172A"/>
              </a:solidFill>
              <a:latin typeface="IBM Plex Sans Arabic" pitchFamily="34" charset="0"/>
              <a:cs typeface="IBM Plex Sans Arabic" pitchFamily="34" charset="-120"/>
            </a:endParaRPr>
          </a:p>
          <a:p>
            <a:pPr algn="r" rtl="1"/>
            <a:r>
              <a:rPr lang="ar-LY" sz="1900" dirty="0">
                <a:solidFill>
                  <a:srgbClr val="0F172A"/>
                </a:solidFill>
                <a:latin typeface="IBM Plex Sans Arabic" pitchFamily="34" charset="0"/>
                <a:cs typeface="IBM Plex Sans Arabic" pitchFamily="34" charset="-120"/>
              </a:rPr>
              <a:t>كما يدعم النظام اللغة العربية والإنجليزية، ويركّز في مرحلته الحالية على السوق المحلي، مع دعم وسائل الدفع المحلية مثل (إدفع لي، موبي كاش، تداول، يسر باي، ون باي، لي باي)، مع تصميم بنية النظام بحيث تكون قابلة للتوسع مستقبلاً لدعم وسائل الدفع العالمية.</a:t>
            </a:r>
            <a:endParaRPr lang="en-US" sz="1900" dirty="0"/>
          </a:p>
        </p:txBody>
      </p:sp>
      <p:sp>
        <p:nvSpPr>
          <p:cNvPr id="11" name="Text 2">
            <a:extLst>
              <a:ext uri="{FF2B5EF4-FFF2-40B4-BE49-F238E27FC236}">
                <a16:creationId xmlns:a16="http://schemas.microsoft.com/office/drawing/2014/main" id="{E3C560FD-EA9A-EEF0-161C-418858F7FFC0}"/>
              </a:ext>
            </a:extLst>
          </p:cNvPr>
          <p:cNvSpPr/>
          <p:nvPr/>
        </p:nvSpPr>
        <p:spPr>
          <a:xfrm>
            <a:off x="9881130" y="6446520"/>
            <a:ext cx="2103120" cy="182880"/>
          </a:xfrm>
          <a:prstGeom prst="rect">
            <a:avLst/>
          </a:prstGeom>
          <a:noFill/>
          <a:ln/>
        </p:spPr>
        <p:txBody>
          <a:bodyPr wrap="square" rtlCol="0" anchor="ctr"/>
          <a:lstStyle/>
          <a:p>
            <a:pPr marL="0" indent="0" algn="r">
              <a:buNone/>
            </a:pPr>
            <a:r>
              <a:rPr lang="en-US" sz="950" dirty="0">
                <a:solidFill>
                  <a:srgbClr val="71717A"/>
                </a:solidFill>
                <a:latin typeface="Inter" pitchFamily="34" charset="0"/>
                <a:ea typeface="Inter" pitchFamily="34" charset="-122"/>
                <a:cs typeface="Inter" pitchFamily="34" charset="-120"/>
              </a:rPr>
              <a:t>2/1</a:t>
            </a:r>
            <a:r>
              <a:rPr lang="ar-LY" sz="950" dirty="0">
                <a:solidFill>
                  <a:srgbClr val="71717A"/>
                </a:solidFill>
                <a:latin typeface="Inter" pitchFamily="34" charset="0"/>
                <a:ea typeface="Inter" pitchFamily="34" charset="-122"/>
                <a:cs typeface="Inter" pitchFamily="34" charset="-120"/>
              </a:rPr>
              <a:t>1</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47857"/>
          </a:solidFill>
          <a:ln w="12700">
            <a:solidFill>
              <a:srgbClr val="047857"/>
            </a:solidFill>
            <a:prstDash val="solid"/>
          </a:ln>
        </p:spPr>
        <p:txBody>
          <a:bodyPr/>
          <a:lstStyle/>
          <a:p>
            <a:endParaRPr lang="en-US"/>
          </a:p>
        </p:txBody>
      </p:sp>
      <p:sp>
        <p:nvSpPr>
          <p:cNvPr id="3" name="Shape 1"/>
          <p:cNvSpPr/>
          <p:nvPr/>
        </p:nvSpPr>
        <p:spPr>
          <a:xfrm>
            <a:off x="0" y="6748272"/>
            <a:ext cx="12191695" cy="109728"/>
          </a:xfrm>
          <a:prstGeom prst="rect">
            <a:avLst/>
          </a:prstGeom>
          <a:solidFill>
            <a:srgbClr val="F59E0B"/>
          </a:solidFill>
          <a:ln w="12700">
            <a:solidFill>
              <a:srgbClr val="F59E0B"/>
            </a:solidFill>
            <a:prstDash val="solid"/>
          </a:ln>
        </p:spPr>
        <p:txBody>
          <a:bodyPr/>
          <a:lstStyle/>
          <a:p>
            <a:endParaRPr lang="en-US"/>
          </a:p>
        </p:txBody>
      </p:sp>
      <p:sp>
        <p:nvSpPr>
          <p:cNvPr id="5" name="Shape 3"/>
          <p:cNvSpPr/>
          <p:nvPr/>
        </p:nvSpPr>
        <p:spPr>
          <a:xfrm>
            <a:off x="411480" y="502920"/>
            <a:ext cx="11384280" cy="6035040"/>
          </a:xfrm>
          <a:prstGeom prst="roundRect">
            <a:avLst>
              <a:gd name="adj" fmla="val 10637"/>
            </a:avLst>
          </a:prstGeom>
          <a:solidFill>
            <a:srgbClr val="FFFFFF"/>
          </a:solidFill>
          <a:ln w="12700">
            <a:solidFill>
              <a:srgbClr val="E4E4E7"/>
            </a:solidFill>
            <a:prstDash val="solid"/>
          </a:ln>
          <a:effectLst>
            <a:outerShdw blurRad="50800" dist="50800" dir="2700000" algn="bl" rotWithShape="0">
              <a:srgbClr val="B6BCC6">
                <a:alpha val="18000"/>
              </a:srgbClr>
            </a:outerShdw>
          </a:effectLst>
        </p:spPr>
        <p:txBody>
          <a:bodyPr/>
          <a:lstStyle/>
          <a:p>
            <a:endParaRPr lang="en-US"/>
          </a:p>
        </p:txBody>
      </p:sp>
      <p:sp>
        <p:nvSpPr>
          <p:cNvPr id="6" name="Shape 4"/>
          <p:cNvSpPr/>
          <p:nvPr/>
        </p:nvSpPr>
        <p:spPr>
          <a:xfrm>
            <a:off x="640080" y="731520"/>
            <a:ext cx="10927080" cy="749808"/>
          </a:xfrm>
          <a:prstGeom prst="roundRect">
            <a:avLst>
              <a:gd name="adj" fmla="val 50000"/>
            </a:avLst>
          </a:prstGeom>
          <a:solidFill>
            <a:srgbClr val="ECFDF5"/>
          </a:solidFill>
          <a:ln w="12700">
            <a:solidFill>
              <a:srgbClr val="ECFDF5"/>
            </a:solidFill>
            <a:prstDash val="solid"/>
          </a:ln>
        </p:spPr>
        <p:txBody>
          <a:bodyPr/>
          <a:lstStyle/>
          <a:p>
            <a:endParaRPr lang="en-US"/>
          </a:p>
        </p:txBody>
      </p:sp>
      <p:sp>
        <p:nvSpPr>
          <p:cNvPr id="7" name="Text 5"/>
          <p:cNvSpPr/>
          <p:nvPr/>
        </p:nvSpPr>
        <p:spPr>
          <a:xfrm>
            <a:off x="868680" y="941832"/>
            <a:ext cx="10469880" cy="365760"/>
          </a:xfrm>
          <a:prstGeom prst="rect">
            <a:avLst/>
          </a:prstGeom>
          <a:noFill/>
          <a:ln/>
        </p:spPr>
        <p:txBody>
          <a:bodyPr wrap="square" rtlCol="0" anchor="ctr"/>
          <a:lstStyle/>
          <a:p>
            <a:pPr marL="0" indent="0" algn="r" rtl="1">
              <a:buNone/>
            </a:pPr>
            <a:r>
              <a:rPr lang="en-US" sz="2600" b="1" dirty="0">
                <a:solidFill>
                  <a:srgbClr val="047857"/>
                </a:solidFill>
                <a:latin typeface="IBM Plex Sans Arabic" pitchFamily="34" charset="0"/>
                <a:ea typeface="IBM Plex Sans Arabic" pitchFamily="34" charset="-122"/>
                <a:cs typeface="IBM Plex Sans Arabic" pitchFamily="34" charset="-120"/>
              </a:rPr>
              <a:t>🔍  مشكلة البحث</a:t>
            </a:r>
            <a:endParaRPr lang="en-US" sz="2600" dirty="0"/>
          </a:p>
        </p:txBody>
      </p:sp>
      <p:sp>
        <p:nvSpPr>
          <p:cNvPr id="8" name="Text 6"/>
          <p:cNvSpPr/>
          <p:nvPr/>
        </p:nvSpPr>
        <p:spPr>
          <a:xfrm>
            <a:off x="960120" y="1600200"/>
            <a:ext cx="10287000" cy="4572000"/>
          </a:xfrm>
          <a:prstGeom prst="rect">
            <a:avLst/>
          </a:prstGeom>
          <a:noFill/>
          <a:ln/>
        </p:spPr>
        <p:txBody>
          <a:bodyPr wrap="square" rtlCol="0" anchor="t"/>
          <a:lstStyle/>
          <a:p>
            <a:pPr algn="r" rtl="1">
              <a:lnSpc>
                <a:spcPct val="200000"/>
              </a:lnSpc>
            </a:pPr>
            <a:r>
              <a:rPr lang="ar-LY" sz="1900" dirty="0">
                <a:solidFill>
                  <a:srgbClr val="0F172A"/>
                </a:solidFill>
                <a:latin typeface="IBM Plex Sans Arabic" pitchFamily="34" charset="0"/>
                <a:ea typeface="IBM Plex Sans Arabic" pitchFamily="34" charset="-122"/>
                <a:cs typeface="IBM Plex Sans Arabic" pitchFamily="34" charset="-120"/>
              </a:rPr>
              <a:t>تكمن مشكلة البحث في عدم توفر نظام سحابي محلي متكامل لإدارة المقاهي في ليبيا، يدعم تعدد الفروع، ونظام الاشتراكات، بالإضافة إلى ضعف دعم وسائل الدفع المحلية داخل أنظمة </a:t>
            </a:r>
            <a:r>
              <a:rPr lang="en-US" sz="1900" b="1" i="1" dirty="0">
                <a:solidFill>
                  <a:srgbClr val="3C7665"/>
                </a:solidFill>
                <a:latin typeface="IBM Plex Sans Arabic" pitchFamily="34" charset="0"/>
                <a:ea typeface="IBM Plex Sans Arabic" pitchFamily="34" charset="-122"/>
                <a:cs typeface="IBM Plex Sans Arabic" pitchFamily="34" charset="-120"/>
              </a:rPr>
              <a:t>SaaS</a:t>
            </a:r>
            <a:r>
              <a:rPr lang="en-US" sz="1900" dirty="0">
                <a:solidFill>
                  <a:srgbClr val="0F172A"/>
                </a:solidFill>
                <a:latin typeface="IBM Plex Sans Arabic" pitchFamily="34" charset="0"/>
                <a:ea typeface="IBM Plex Sans Arabic" pitchFamily="34" charset="-122"/>
                <a:cs typeface="IBM Plex Sans Arabic" pitchFamily="34" charset="-120"/>
              </a:rPr>
              <a:t> ، </a:t>
            </a:r>
            <a:r>
              <a:rPr lang="ar-LY" sz="1900" dirty="0">
                <a:solidFill>
                  <a:srgbClr val="0F172A"/>
                </a:solidFill>
                <a:latin typeface="IBM Plex Sans Arabic" pitchFamily="34" charset="0"/>
                <a:ea typeface="IBM Plex Sans Arabic" pitchFamily="34" charset="-122"/>
                <a:cs typeface="IBM Plex Sans Arabic" pitchFamily="34" charset="-120"/>
              </a:rPr>
              <a:t>و قلة الأنظمة التي توفر تكاملا مع الخدمات المصرفية المحلية.</a:t>
            </a:r>
            <a:endParaRPr lang="en-US" sz="1900" dirty="0"/>
          </a:p>
        </p:txBody>
      </p:sp>
      <p:sp>
        <p:nvSpPr>
          <p:cNvPr id="9" name="Text 2">
            <a:extLst>
              <a:ext uri="{FF2B5EF4-FFF2-40B4-BE49-F238E27FC236}">
                <a16:creationId xmlns:a16="http://schemas.microsoft.com/office/drawing/2014/main" id="{CCA36989-FBD4-5BEB-9B9C-3727B40DAE71}"/>
              </a:ext>
            </a:extLst>
          </p:cNvPr>
          <p:cNvSpPr/>
          <p:nvPr/>
        </p:nvSpPr>
        <p:spPr>
          <a:xfrm>
            <a:off x="9881130" y="6446520"/>
            <a:ext cx="2103120" cy="182880"/>
          </a:xfrm>
          <a:prstGeom prst="rect">
            <a:avLst/>
          </a:prstGeom>
          <a:noFill/>
          <a:ln/>
        </p:spPr>
        <p:txBody>
          <a:bodyPr wrap="square" rtlCol="0" anchor="ctr"/>
          <a:lstStyle/>
          <a:p>
            <a:pPr marL="0" indent="0" algn="r">
              <a:buNone/>
            </a:pPr>
            <a:r>
              <a:rPr lang="en-US" sz="950" dirty="0">
                <a:solidFill>
                  <a:srgbClr val="71717A"/>
                </a:solidFill>
                <a:latin typeface="Inter" pitchFamily="34" charset="0"/>
                <a:ea typeface="Inter" pitchFamily="34" charset="-122"/>
                <a:cs typeface="Inter" pitchFamily="34" charset="-120"/>
              </a:rPr>
              <a:t>3/1</a:t>
            </a:r>
            <a:r>
              <a:rPr lang="ar-LY" sz="950" dirty="0">
                <a:solidFill>
                  <a:srgbClr val="71717A"/>
                </a:solidFill>
                <a:latin typeface="Inter" pitchFamily="34" charset="0"/>
                <a:ea typeface="Inter" pitchFamily="34" charset="-122"/>
                <a:cs typeface="Inter" pitchFamily="34" charset="-120"/>
              </a:rPr>
              <a:t>1</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47857"/>
          </a:solidFill>
          <a:ln w="12700">
            <a:solidFill>
              <a:srgbClr val="047857"/>
            </a:solidFill>
            <a:prstDash val="solid"/>
          </a:ln>
        </p:spPr>
        <p:txBody>
          <a:bodyPr/>
          <a:lstStyle/>
          <a:p>
            <a:endParaRPr lang="en-US"/>
          </a:p>
        </p:txBody>
      </p:sp>
      <p:sp>
        <p:nvSpPr>
          <p:cNvPr id="3" name="Shape 1"/>
          <p:cNvSpPr/>
          <p:nvPr/>
        </p:nvSpPr>
        <p:spPr>
          <a:xfrm>
            <a:off x="0" y="6748272"/>
            <a:ext cx="12191695" cy="109728"/>
          </a:xfrm>
          <a:prstGeom prst="rect">
            <a:avLst/>
          </a:prstGeom>
          <a:solidFill>
            <a:srgbClr val="F59E0B"/>
          </a:solidFill>
          <a:ln w="12700">
            <a:solidFill>
              <a:srgbClr val="F59E0B"/>
            </a:solidFill>
            <a:prstDash val="solid"/>
          </a:ln>
        </p:spPr>
        <p:txBody>
          <a:bodyPr/>
          <a:lstStyle/>
          <a:p>
            <a:endParaRPr lang="en-US"/>
          </a:p>
        </p:txBody>
      </p:sp>
      <p:sp>
        <p:nvSpPr>
          <p:cNvPr id="5" name="Shape 3"/>
          <p:cNvSpPr/>
          <p:nvPr/>
        </p:nvSpPr>
        <p:spPr>
          <a:xfrm>
            <a:off x="411480" y="502920"/>
            <a:ext cx="11384280" cy="6035040"/>
          </a:xfrm>
          <a:prstGeom prst="roundRect">
            <a:avLst>
              <a:gd name="adj" fmla="val 11565"/>
            </a:avLst>
          </a:prstGeom>
          <a:solidFill>
            <a:srgbClr val="FFFFFF"/>
          </a:solidFill>
          <a:ln w="12700">
            <a:solidFill>
              <a:srgbClr val="E4E4E7"/>
            </a:solidFill>
            <a:prstDash val="solid"/>
          </a:ln>
          <a:effectLst>
            <a:outerShdw blurRad="50800" dist="50800" dir="2700000" algn="bl" rotWithShape="0">
              <a:srgbClr val="B6BCC6">
                <a:alpha val="18000"/>
              </a:srgbClr>
            </a:outerShdw>
          </a:effectLst>
        </p:spPr>
        <p:txBody>
          <a:bodyPr/>
          <a:lstStyle/>
          <a:p>
            <a:endParaRPr lang="en-US"/>
          </a:p>
        </p:txBody>
      </p:sp>
      <p:sp>
        <p:nvSpPr>
          <p:cNvPr id="6" name="Shape 4"/>
          <p:cNvSpPr/>
          <p:nvPr/>
        </p:nvSpPr>
        <p:spPr>
          <a:xfrm>
            <a:off x="640080" y="731520"/>
            <a:ext cx="10927080" cy="749808"/>
          </a:xfrm>
          <a:prstGeom prst="roundRect">
            <a:avLst>
              <a:gd name="adj" fmla="val 50000"/>
            </a:avLst>
          </a:prstGeom>
          <a:solidFill>
            <a:srgbClr val="ECFDF5"/>
          </a:solidFill>
          <a:ln w="12700">
            <a:solidFill>
              <a:srgbClr val="ECFDF5"/>
            </a:solidFill>
            <a:prstDash val="solid"/>
          </a:ln>
        </p:spPr>
        <p:txBody>
          <a:bodyPr/>
          <a:lstStyle/>
          <a:p>
            <a:endParaRPr lang="en-US"/>
          </a:p>
        </p:txBody>
      </p:sp>
      <p:sp>
        <p:nvSpPr>
          <p:cNvPr id="7" name="Text 5"/>
          <p:cNvSpPr/>
          <p:nvPr/>
        </p:nvSpPr>
        <p:spPr>
          <a:xfrm>
            <a:off x="868680" y="941832"/>
            <a:ext cx="10469880" cy="365760"/>
          </a:xfrm>
          <a:prstGeom prst="rect">
            <a:avLst/>
          </a:prstGeom>
          <a:noFill/>
          <a:ln/>
        </p:spPr>
        <p:txBody>
          <a:bodyPr wrap="square" rtlCol="0" anchor="ctr"/>
          <a:lstStyle/>
          <a:p>
            <a:pPr marL="0" indent="0" algn="r" rtl="1">
              <a:buNone/>
            </a:pPr>
            <a:r>
              <a:rPr lang="en-US" sz="2600" b="1" dirty="0">
                <a:solidFill>
                  <a:srgbClr val="047857"/>
                </a:solidFill>
                <a:latin typeface="IBM Plex Sans Arabic" pitchFamily="34" charset="0"/>
                <a:ea typeface="IBM Plex Sans Arabic" pitchFamily="34" charset="-122"/>
                <a:cs typeface="IBM Plex Sans Arabic" pitchFamily="34" charset="-120"/>
              </a:rPr>
              <a:t>🎯  أهداف المشروع</a:t>
            </a:r>
            <a:endParaRPr lang="en-US" sz="2600" dirty="0"/>
          </a:p>
        </p:txBody>
      </p:sp>
      <p:sp>
        <p:nvSpPr>
          <p:cNvPr id="8" name="Text 6"/>
          <p:cNvSpPr/>
          <p:nvPr/>
        </p:nvSpPr>
        <p:spPr>
          <a:xfrm>
            <a:off x="960120" y="1600200"/>
            <a:ext cx="10287000" cy="4572000"/>
          </a:xfrm>
          <a:prstGeom prst="rect">
            <a:avLst/>
          </a:prstGeom>
          <a:noFill/>
          <a:ln/>
        </p:spPr>
        <p:txBody>
          <a:bodyPr wrap="square" rtlCol="0" anchor="t"/>
          <a:lstStyle/>
          <a:p>
            <a:pPr algn="r" rtl="1">
              <a:lnSpc>
                <a:spcPct val="150000"/>
              </a:lnSpc>
            </a:pPr>
            <a:r>
              <a:rPr lang="ar-LY" sz="1900" dirty="0">
                <a:solidFill>
                  <a:srgbClr val="0F172A"/>
                </a:solidFill>
                <a:latin typeface="IBM Plex Sans Arabic" pitchFamily="34" charset="0"/>
                <a:ea typeface="IBM Plex Sans Arabic" pitchFamily="34" charset="-122"/>
                <a:cs typeface="IBM Plex Sans Arabic" pitchFamily="34" charset="-120"/>
              </a:rPr>
              <a:t>يهدف المشروع إلى:</a:t>
            </a:r>
          </a:p>
          <a:p>
            <a:pPr algn="r" rtl="1">
              <a:lnSpc>
                <a:spcPct val="150000"/>
              </a:lnSpc>
            </a:pPr>
            <a:r>
              <a:rPr lang="ar-LY" sz="1900" dirty="0">
                <a:solidFill>
                  <a:srgbClr val="0F172A"/>
                </a:solidFill>
                <a:latin typeface="IBM Plex Sans Arabic" pitchFamily="34" charset="0"/>
                <a:ea typeface="IBM Plex Sans Arabic" pitchFamily="34" charset="-122"/>
                <a:cs typeface="IBM Plex Sans Arabic" pitchFamily="34" charset="-120"/>
              </a:rPr>
              <a:t>• تطوير منصة </a:t>
            </a:r>
            <a:r>
              <a:rPr lang="en-US" sz="1900" b="1" dirty="0">
                <a:solidFill>
                  <a:srgbClr val="3C7665"/>
                </a:solidFill>
                <a:latin typeface="IBM Plex Sans Arabic" pitchFamily="34" charset="0"/>
                <a:ea typeface="IBM Plex Sans Arabic" pitchFamily="34" charset="-122"/>
                <a:cs typeface="IBM Plex Sans Arabic" pitchFamily="34" charset="-120"/>
              </a:rPr>
              <a:t>SaaS</a:t>
            </a:r>
            <a:r>
              <a:rPr lang="ar-LY" sz="1900" dirty="0">
                <a:solidFill>
                  <a:srgbClr val="0F172A"/>
                </a:solidFill>
                <a:latin typeface="IBM Plex Sans Arabic" pitchFamily="34" charset="0"/>
                <a:ea typeface="IBM Plex Sans Arabic" pitchFamily="34" charset="-122"/>
                <a:cs typeface="IBM Plex Sans Arabic" pitchFamily="34" charset="-120"/>
              </a:rPr>
              <a:t> لإدارة المقاهي متعددة الفروع</a:t>
            </a:r>
          </a:p>
          <a:p>
            <a:pPr algn="r" rtl="1">
              <a:lnSpc>
                <a:spcPct val="150000"/>
              </a:lnSpc>
            </a:pPr>
            <a:r>
              <a:rPr lang="ar-LY" sz="1900" dirty="0">
                <a:solidFill>
                  <a:srgbClr val="0F172A"/>
                </a:solidFill>
                <a:latin typeface="IBM Plex Sans Arabic" pitchFamily="34" charset="0"/>
                <a:ea typeface="IBM Plex Sans Arabic" pitchFamily="34" charset="-122"/>
                <a:cs typeface="IBM Plex Sans Arabic" pitchFamily="34" charset="-120"/>
              </a:rPr>
              <a:t>• دعم نظام الاشتراكات </a:t>
            </a:r>
            <a:r>
              <a:rPr lang="en-US" sz="1900" dirty="0">
                <a:solidFill>
                  <a:srgbClr val="0F172A"/>
                </a:solidFill>
                <a:latin typeface="IBM Plex Sans Arabic" pitchFamily="34" charset="0"/>
                <a:ea typeface="IBM Plex Sans Arabic" pitchFamily="34" charset="-122"/>
                <a:cs typeface="IBM Plex Sans Arabic" pitchFamily="34" charset="-120"/>
              </a:rPr>
              <a:t>( </a:t>
            </a:r>
            <a:r>
              <a:rPr lang="en-US" i="1" dirty="0"/>
              <a:t>Basic</a:t>
            </a:r>
            <a:r>
              <a:rPr lang="en-US" dirty="0"/>
              <a:t> — </a:t>
            </a:r>
            <a:r>
              <a:rPr lang="en-US" i="1" dirty="0"/>
              <a:t>Pro</a:t>
            </a:r>
            <a:r>
              <a:rPr lang="en-US" dirty="0"/>
              <a:t> — </a:t>
            </a:r>
            <a:r>
              <a:rPr lang="en-US" i="1" dirty="0"/>
              <a:t>Business</a:t>
            </a:r>
            <a:r>
              <a:rPr lang="en-US" sz="1900" dirty="0">
                <a:solidFill>
                  <a:srgbClr val="0F172A"/>
                </a:solidFill>
                <a:latin typeface="IBM Plex Sans Arabic" pitchFamily="34" charset="0"/>
                <a:ea typeface="IBM Plex Sans Arabic" pitchFamily="34" charset="-122"/>
                <a:cs typeface="IBM Plex Sans Arabic" pitchFamily="34" charset="-120"/>
              </a:rPr>
              <a:t> )</a:t>
            </a:r>
          </a:p>
          <a:p>
            <a:pPr algn="r" rtl="1">
              <a:lnSpc>
                <a:spcPct val="150000"/>
              </a:lnSpc>
            </a:pPr>
            <a:r>
              <a:rPr lang="en-US" sz="1900" dirty="0">
                <a:solidFill>
                  <a:srgbClr val="0F172A"/>
                </a:solidFill>
                <a:latin typeface="IBM Plex Sans Arabic" pitchFamily="34" charset="0"/>
                <a:ea typeface="IBM Plex Sans Arabic" pitchFamily="34" charset="-122"/>
                <a:cs typeface="IBM Plex Sans Arabic" pitchFamily="34" charset="-120"/>
              </a:rPr>
              <a:t>•</a:t>
            </a:r>
            <a:r>
              <a:rPr lang="ar-LY" sz="1900" dirty="0">
                <a:solidFill>
                  <a:srgbClr val="0F172A"/>
                </a:solidFill>
                <a:latin typeface="IBM Plex Sans Arabic" pitchFamily="34" charset="0"/>
                <a:ea typeface="IBM Plex Sans Arabic" pitchFamily="34" charset="-122"/>
                <a:cs typeface="IBM Plex Sans Arabic" pitchFamily="34" charset="-120"/>
              </a:rPr>
              <a:t> دعم اللغة العربية والإنجليزية</a:t>
            </a:r>
          </a:p>
          <a:p>
            <a:pPr algn="r" rtl="1">
              <a:lnSpc>
                <a:spcPct val="150000"/>
              </a:lnSpc>
            </a:pPr>
            <a:r>
              <a:rPr lang="ar-LY" sz="1900" dirty="0">
                <a:solidFill>
                  <a:srgbClr val="0F172A"/>
                </a:solidFill>
                <a:latin typeface="IBM Plex Sans Arabic" pitchFamily="34" charset="0"/>
                <a:ea typeface="IBM Plex Sans Arabic" pitchFamily="34" charset="-122"/>
                <a:cs typeface="IBM Plex Sans Arabic" pitchFamily="34" charset="-120"/>
              </a:rPr>
              <a:t>• دعم وسائل الدفع المحلية</a:t>
            </a:r>
          </a:p>
          <a:p>
            <a:pPr algn="r" rtl="1">
              <a:lnSpc>
                <a:spcPct val="150000"/>
              </a:lnSpc>
            </a:pPr>
            <a:r>
              <a:rPr lang="ar-LY" sz="1900" dirty="0">
                <a:solidFill>
                  <a:srgbClr val="0F172A"/>
                </a:solidFill>
                <a:latin typeface="IBM Plex Sans Arabic" pitchFamily="34" charset="0"/>
                <a:ea typeface="IBM Plex Sans Arabic" pitchFamily="34" charset="-122"/>
                <a:cs typeface="IBM Plex Sans Arabic" pitchFamily="34" charset="-120"/>
              </a:rPr>
              <a:t>• توفير نظام صلاحيات ديناميكي للموظفين</a:t>
            </a:r>
          </a:p>
          <a:p>
            <a:pPr algn="r" rtl="1">
              <a:lnSpc>
                <a:spcPct val="150000"/>
              </a:lnSpc>
            </a:pPr>
            <a:r>
              <a:rPr lang="ar-LY" sz="1900" dirty="0">
                <a:solidFill>
                  <a:srgbClr val="0F172A"/>
                </a:solidFill>
                <a:latin typeface="IBM Plex Sans Arabic" pitchFamily="34" charset="0"/>
                <a:ea typeface="IBM Plex Sans Arabic" pitchFamily="34" charset="-122"/>
                <a:cs typeface="IBM Plex Sans Arabic" pitchFamily="34" charset="-120"/>
              </a:rPr>
              <a:t>• توفير نظام تقارير متكامل</a:t>
            </a:r>
          </a:p>
          <a:p>
            <a:pPr algn="r" rtl="1">
              <a:lnSpc>
                <a:spcPct val="150000"/>
              </a:lnSpc>
            </a:pPr>
            <a:r>
              <a:rPr lang="ar-LY" sz="1900" dirty="0">
                <a:solidFill>
                  <a:srgbClr val="0F172A"/>
                </a:solidFill>
                <a:latin typeface="IBM Plex Sans Arabic" pitchFamily="34" charset="0"/>
                <a:ea typeface="IBM Plex Sans Arabic" pitchFamily="34" charset="-122"/>
                <a:cs typeface="IBM Plex Sans Arabic" pitchFamily="34" charset="-120"/>
              </a:rPr>
              <a:t>• تصميم نظام قابل للتوسع نحو السوق العالمي</a:t>
            </a:r>
            <a:endParaRPr lang="en-US" sz="1900" dirty="0"/>
          </a:p>
        </p:txBody>
      </p:sp>
      <p:sp>
        <p:nvSpPr>
          <p:cNvPr id="9" name="Text 2">
            <a:extLst>
              <a:ext uri="{FF2B5EF4-FFF2-40B4-BE49-F238E27FC236}">
                <a16:creationId xmlns:a16="http://schemas.microsoft.com/office/drawing/2014/main" id="{A1EC089D-5431-444D-93C5-694FE4792D97}"/>
              </a:ext>
            </a:extLst>
          </p:cNvPr>
          <p:cNvSpPr/>
          <p:nvPr/>
        </p:nvSpPr>
        <p:spPr>
          <a:xfrm>
            <a:off x="9881130" y="6446520"/>
            <a:ext cx="2103120" cy="182880"/>
          </a:xfrm>
          <a:prstGeom prst="rect">
            <a:avLst/>
          </a:prstGeom>
          <a:noFill/>
          <a:ln/>
        </p:spPr>
        <p:txBody>
          <a:bodyPr wrap="square" rtlCol="0" anchor="ctr"/>
          <a:lstStyle/>
          <a:p>
            <a:pPr marL="0" indent="0" algn="r">
              <a:buNone/>
            </a:pPr>
            <a:r>
              <a:rPr lang="en-US" sz="950" dirty="0">
                <a:solidFill>
                  <a:srgbClr val="71717A"/>
                </a:solidFill>
                <a:latin typeface="Inter" pitchFamily="34" charset="0"/>
                <a:ea typeface="Inter" pitchFamily="34" charset="-122"/>
                <a:cs typeface="Inter" pitchFamily="34" charset="-120"/>
              </a:rPr>
              <a:t>4/1</a:t>
            </a:r>
            <a:r>
              <a:rPr lang="ar-LY" sz="950" dirty="0">
                <a:solidFill>
                  <a:srgbClr val="71717A"/>
                </a:solidFill>
                <a:latin typeface="Inter" pitchFamily="34" charset="0"/>
                <a:ea typeface="Inter" pitchFamily="34" charset="-122"/>
                <a:cs typeface="Inter" pitchFamily="34" charset="-120"/>
              </a:rPr>
              <a:t>1</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47857"/>
          </a:solidFill>
          <a:ln w="12700">
            <a:solidFill>
              <a:srgbClr val="047857"/>
            </a:solidFill>
            <a:prstDash val="solid"/>
          </a:ln>
        </p:spPr>
        <p:txBody>
          <a:bodyPr/>
          <a:lstStyle/>
          <a:p>
            <a:endParaRPr lang="en-US"/>
          </a:p>
        </p:txBody>
      </p:sp>
      <p:sp>
        <p:nvSpPr>
          <p:cNvPr id="3" name="Shape 1"/>
          <p:cNvSpPr/>
          <p:nvPr/>
        </p:nvSpPr>
        <p:spPr>
          <a:xfrm>
            <a:off x="0" y="6748272"/>
            <a:ext cx="12191695" cy="109728"/>
          </a:xfrm>
          <a:prstGeom prst="rect">
            <a:avLst/>
          </a:prstGeom>
          <a:solidFill>
            <a:srgbClr val="F59E0B"/>
          </a:solidFill>
          <a:ln w="12700">
            <a:solidFill>
              <a:srgbClr val="F59E0B"/>
            </a:solidFill>
            <a:prstDash val="solid"/>
          </a:ln>
        </p:spPr>
        <p:txBody>
          <a:bodyPr/>
          <a:lstStyle/>
          <a:p>
            <a:endParaRPr lang="en-US"/>
          </a:p>
        </p:txBody>
      </p:sp>
      <p:sp>
        <p:nvSpPr>
          <p:cNvPr id="5" name="Shape 3"/>
          <p:cNvSpPr/>
          <p:nvPr/>
        </p:nvSpPr>
        <p:spPr>
          <a:xfrm>
            <a:off x="411480" y="502920"/>
            <a:ext cx="11384280" cy="6035040"/>
          </a:xfrm>
          <a:prstGeom prst="roundRect">
            <a:avLst>
              <a:gd name="adj" fmla="val 10328"/>
            </a:avLst>
          </a:prstGeom>
          <a:solidFill>
            <a:srgbClr val="FFFFFF"/>
          </a:solidFill>
          <a:ln w="12700">
            <a:solidFill>
              <a:srgbClr val="E4E4E7"/>
            </a:solidFill>
            <a:prstDash val="solid"/>
          </a:ln>
          <a:effectLst>
            <a:outerShdw blurRad="50800" dist="50800" dir="2700000" algn="bl" rotWithShape="0">
              <a:srgbClr val="B6BCC6">
                <a:alpha val="18000"/>
              </a:srgbClr>
            </a:outerShdw>
          </a:effectLst>
        </p:spPr>
        <p:txBody>
          <a:bodyPr/>
          <a:lstStyle/>
          <a:p>
            <a:endParaRPr lang="en-US"/>
          </a:p>
        </p:txBody>
      </p:sp>
      <p:sp>
        <p:nvSpPr>
          <p:cNvPr id="6" name="Shape 4"/>
          <p:cNvSpPr/>
          <p:nvPr/>
        </p:nvSpPr>
        <p:spPr>
          <a:xfrm>
            <a:off x="640080" y="731520"/>
            <a:ext cx="10927080" cy="749808"/>
          </a:xfrm>
          <a:prstGeom prst="roundRect">
            <a:avLst>
              <a:gd name="adj" fmla="val 50000"/>
            </a:avLst>
          </a:prstGeom>
          <a:solidFill>
            <a:srgbClr val="ECFDF5"/>
          </a:solidFill>
          <a:ln w="12700">
            <a:solidFill>
              <a:srgbClr val="ECFDF5"/>
            </a:solidFill>
            <a:prstDash val="solid"/>
          </a:ln>
        </p:spPr>
        <p:txBody>
          <a:bodyPr/>
          <a:lstStyle/>
          <a:p>
            <a:endParaRPr lang="en-US"/>
          </a:p>
        </p:txBody>
      </p:sp>
      <p:sp>
        <p:nvSpPr>
          <p:cNvPr id="7" name="Text 5"/>
          <p:cNvSpPr/>
          <p:nvPr/>
        </p:nvSpPr>
        <p:spPr>
          <a:xfrm>
            <a:off x="868680" y="941832"/>
            <a:ext cx="10469880" cy="365760"/>
          </a:xfrm>
          <a:prstGeom prst="rect">
            <a:avLst/>
          </a:prstGeom>
          <a:noFill/>
          <a:ln/>
        </p:spPr>
        <p:txBody>
          <a:bodyPr wrap="square" rtlCol="0" anchor="ctr"/>
          <a:lstStyle/>
          <a:p>
            <a:pPr algn="r" rtl="1"/>
            <a:r>
              <a:rPr lang="en-US" sz="2600" b="1" dirty="0">
                <a:solidFill>
                  <a:srgbClr val="047857"/>
                </a:solidFill>
                <a:latin typeface="IBM Plex Sans Arabic" pitchFamily="34" charset="0"/>
                <a:ea typeface="IBM Plex Sans Arabic" pitchFamily="34" charset="-122"/>
                <a:cs typeface="IBM Plex Sans Arabic" pitchFamily="34" charset="-120"/>
              </a:rPr>
              <a:t>🧭  </a:t>
            </a:r>
            <a:r>
              <a:rPr lang="ar-LY" sz="2600" b="1" dirty="0">
                <a:solidFill>
                  <a:srgbClr val="047857"/>
                </a:solidFill>
                <a:latin typeface="IBM Plex Sans Arabic" pitchFamily="34" charset="0"/>
                <a:ea typeface="IBM Plex Sans Arabic" pitchFamily="34" charset="-122"/>
                <a:cs typeface="IBM Plex Sans Arabic" pitchFamily="34" charset="-120"/>
              </a:rPr>
              <a:t>المنهجية المتبعة</a:t>
            </a:r>
            <a:endParaRPr lang="en-US" sz="2600" dirty="0"/>
          </a:p>
        </p:txBody>
      </p:sp>
      <p:sp>
        <p:nvSpPr>
          <p:cNvPr id="8" name="Text 6"/>
          <p:cNvSpPr/>
          <p:nvPr/>
        </p:nvSpPr>
        <p:spPr>
          <a:xfrm>
            <a:off x="960120" y="1600200"/>
            <a:ext cx="10287000" cy="4572000"/>
          </a:xfrm>
          <a:prstGeom prst="rect">
            <a:avLst/>
          </a:prstGeom>
          <a:noFill/>
          <a:ln/>
        </p:spPr>
        <p:txBody>
          <a:bodyPr wrap="square" rtlCol="0" anchor="t"/>
          <a:lstStyle/>
          <a:p>
            <a:pPr algn="r" rtl="1">
              <a:lnSpc>
                <a:spcPct val="150000"/>
              </a:lnSpc>
            </a:pPr>
            <a:r>
              <a:rPr lang="ar-LY" sz="1900" dirty="0">
                <a:solidFill>
                  <a:srgbClr val="0F172A"/>
                </a:solidFill>
                <a:latin typeface="IBM Plex Sans Arabic" pitchFamily="34" charset="0"/>
                <a:ea typeface="IBM Plex Sans Arabic" pitchFamily="34" charset="-122"/>
                <a:cs typeface="IBM Plex Sans Arabic" pitchFamily="34" charset="-120"/>
              </a:rPr>
              <a:t>تم استخدام </a:t>
            </a:r>
            <a:r>
              <a:rPr lang="ar-LY" sz="1900" b="1" dirty="0">
                <a:solidFill>
                  <a:srgbClr val="3C7665"/>
                </a:solidFill>
                <a:latin typeface="IBM Plex Sans Arabic" pitchFamily="34" charset="0"/>
                <a:ea typeface="IBM Plex Sans Arabic" pitchFamily="34" charset="-122"/>
                <a:cs typeface="IBM Plex Sans Arabic" pitchFamily="34" charset="-120"/>
              </a:rPr>
              <a:t>المنهجية التكرارية - ( </a:t>
            </a:r>
            <a:r>
              <a:rPr lang="en-US" sz="1900" b="1" dirty="0">
                <a:solidFill>
                  <a:srgbClr val="3C7665"/>
                </a:solidFill>
                <a:latin typeface="IBM Plex Sans Arabic" pitchFamily="34" charset="0"/>
                <a:ea typeface="IBM Plex Sans Arabic" pitchFamily="34" charset="-122"/>
                <a:cs typeface="IBM Plex Sans Arabic" pitchFamily="34" charset="-120"/>
              </a:rPr>
              <a:t>Iterative Model</a:t>
            </a:r>
            <a:r>
              <a:rPr lang="ar-LY" sz="1900" b="1" dirty="0">
                <a:solidFill>
                  <a:srgbClr val="3C7665"/>
                </a:solidFill>
                <a:latin typeface="IBM Plex Sans Arabic" pitchFamily="34" charset="0"/>
                <a:ea typeface="IBM Plex Sans Arabic" pitchFamily="34" charset="-122"/>
                <a:cs typeface="IBM Plex Sans Arabic" pitchFamily="34" charset="-120"/>
              </a:rPr>
              <a:t> ) </a:t>
            </a:r>
            <a:r>
              <a:rPr lang="en-US" sz="1900" dirty="0">
                <a:solidFill>
                  <a:srgbClr val="0F172A"/>
                </a:solidFill>
                <a:latin typeface="IBM Plex Sans Arabic" pitchFamily="34" charset="0"/>
                <a:ea typeface="IBM Plex Sans Arabic" pitchFamily="34" charset="-122"/>
                <a:cs typeface="IBM Plex Sans Arabic" pitchFamily="34" charset="-120"/>
              </a:rPr>
              <a:t>، </a:t>
            </a:r>
            <a:r>
              <a:rPr lang="ar-LY" sz="1900" dirty="0">
                <a:solidFill>
                  <a:srgbClr val="0F172A"/>
                </a:solidFill>
                <a:latin typeface="IBM Plex Sans Arabic" pitchFamily="34" charset="0"/>
                <a:ea typeface="IBM Plex Sans Arabic" pitchFamily="34" charset="-122"/>
                <a:cs typeface="IBM Plex Sans Arabic" pitchFamily="34" charset="-120"/>
              </a:rPr>
              <a:t>حيث تم تطوير النظام على مراحل متتالية تشمل:</a:t>
            </a:r>
          </a:p>
          <a:p>
            <a:pPr algn="r" rtl="1">
              <a:lnSpc>
                <a:spcPct val="150000"/>
              </a:lnSpc>
            </a:pPr>
            <a:endParaRPr lang="ar-LY" sz="1900" dirty="0">
              <a:solidFill>
                <a:srgbClr val="0F172A"/>
              </a:solidFill>
              <a:latin typeface="IBM Plex Sans Arabic" pitchFamily="34" charset="0"/>
              <a:ea typeface="IBM Plex Sans Arabic" pitchFamily="34" charset="-122"/>
              <a:cs typeface="IBM Plex Sans Arabic" pitchFamily="34" charset="-120"/>
            </a:endParaRPr>
          </a:p>
          <a:p>
            <a:pPr marL="342900" indent="-342900" algn="r" rtl="1">
              <a:lnSpc>
                <a:spcPct val="150000"/>
              </a:lnSpc>
              <a:buFont typeface="Arial" panose="020B0604020202020204" pitchFamily="34" charset="0"/>
              <a:buChar char="•"/>
            </a:pPr>
            <a:r>
              <a:rPr lang="ar-LY" sz="1900" dirty="0">
                <a:solidFill>
                  <a:srgbClr val="0F172A"/>
                </a:solidFill>
                <a:latin typeface="IBM Plex Sans Arabic" pitchFamily="34" charset="0"/>
                <a:ea typeface="IBM Plex Sans Arabic" pitchFamily="34" charset="-122"/>
                <a:cs typeface="IBM Plex Sans Arabic" pitchFamily="34" charset="-120"/>
              </a:rPr>
              <a:t>تحليل المتطلبات</a:t>
            </a:r>
          </a:p>
          <a:p>
            <a:pPr marL="342900" indent="-342900" algn="r" rtl="1">
              <a:lnSpc>
                <a:spcPct val="150000"/>
              </a:lnSpc>
              <a:buFont typeface="Arial" panose="020B0604020202020204" pitchFamily="34" charset="0"/>
              <a:buChar char="•"/>
            </a:pPr>
            <a:r>
              <a:rPr lang="ar-LY" sz="1900" dirty="0">
                <a:solidFill>
                  <a:srgbClr val="0F172A"/>
                </a:solidFill>
                <a:latin typeface="IBM Plex Sans Arabic" pitchFamily="34" charset="0"/>
                <a:ea typeface="IBM Plex Sans Arabic" pitchFamily="34" charset="-122"/>
                <a:cs typeface="IBM Plex Sans Arabic" pitchFamily="34" charset="-120"/>
              </a:rPr>
              <a:t>التصميم</a:t>
            </a:r>
          </a:p>
          <a:p>
            <a:pPr marL="342900" indent="-342900" algn="r" rtl="1">
              <a:lnSpc>
                <a:spcPct val="150000"/>
              </a:lnSpc>
              <a:buFont typeface="Arial" panose="020B0604020202020204" pitchFamily="34" charset="0"/>
              <a:buChar char="•"/>
            </a:pPr>
            <a:r>
              <a:rPr lang="ar-LY" sz="1900" dirty="0">
                <a:solidFill>
                  <a:srgbClr val="0F172A"/>
                </a:solidFill>
                <a:latin typeface="IBM Plex Sans Arabic" pitchFamily="34" charset="0"/>
                <a:ea typeface="IBM Plex Sans Arabic" pitchFamily="34" charset="-122"/>
                <a:cs typeface="IBM Plex Sans Arabic" pitchFamily="34" charset="-120"/>
              </a:rPr>
              <a:t>التنفيذ</a:t>
            </a:r>
          </a:p>
          <a:p>
            <a:pPr marL="342900" indent="-342900" algn="r" rtl="1">
              <a:lnSpc>
                <a:spcPct val="150000"/>
              </a:lnSpc>
              <a:buFont typeface="Arial" panose="020B0604020202020204" pitchFamily="34" charset="0"/>
              <a:buChar char="•"/>
            </a:pPr>
            <a:r>
              <a:rPr lang="ar-LY" sz="1900" dirty="0">
                <a:solidFill>
                  <a:srgbClr val="0F172A"/>
                </a:solidFill>
                <a:latin typeface="IBM Plex Sans Arabic" pitchFamily="34" charset="0"/>
                <a:ea typeface="IBM Plex Sans Arabic" pitchFamily="34" charset="-122"/>
                <a:cs typeface="IBM Plex Sans Arabic" pitchFamily="34" charset="-120"/>
              </a:rPr>
              <a:t>والاختبار</a:t>
            </a:r>
          </a:p>
          <a:p>
            <a:pPr algn="r" rtl="1">
              <a:lnSpc>
                <a:spcPct val="150000"/>
              </a:lnSpc>
            </a:pPr>
            <a:endParaRPr lang="ar-LY" sz="1900" dirty="0">
              <a:solidFill>
                <a:srgbClr val="0F172A"/>
              </a:solidFill>
              <a:latin typeface="IBM Plex Sans Arabic" pitchFamily="34" charset="0"/>
              <a:ea typeface="IBM Plex Sans Arabic" pitchFamily="34" charset="-122"/>
              <a:cs typeface="IBM Plex Sans Arabic" pitchFamily="34" charset="-120"/>
            </a:endParaRPr>
          </a:p>
          <a:p>
            <a:pPr algn="r" rtl="1">
              <a:lnSpc>
                <a:spcPct val="150000"/>
              </a:lnSpc>
            </a:pPr>
            <a:r>
              <a:rPr lang="ar-LY" sz="1900" dirty="0">
                <a:solidFill>
                  <a:srgbClr val="0F172A"/>
                </a:solidFill>
                <a:latin typeface="IBM Plex Sans Arabic" pitchFamily="34" charset="0"/>
                <a:ea typeface="IBM Plex Sans Arabic" pitchFamily="34" charset="-122"/>
                <a:cs typeface="IBM Plex Sans Arabic" pitchFamily="34" charset="-120"/>
              </a:rPr>
              <a:t>مع تحسين مستمر في كل دورة.</a:t>
            </a:r>
            <a:endParaRPr lang="en-US" sz="1900" dirty="0"/>
          </a:p>
        </p:txBody>
      </p:sp>
      <p:sp>
        <p:nvSpPr>
          <p:cNvPr id="9" name="Text 2">
            <a:extLst>
              <a:ext uri="{FF2B5EF4-FFF2-40B4-BE49-F238E27FC236}">
                <a16:creationId xmlns:a16="http://schemas.microsoft.com/office/drawing/2014/main" id="{CCB4A5C0-2C7F-4FAB-52A4-F6404504F648}"/>
              </a:ext>
            </a:extLst>
          </p:cNvPr>
          <p:cNvSpPr/>
          <p:nvPr/>
        </p:nvSpPr>
        <p:spPr>
          <a:xfrm>
            <a:off x="9881130" y="6446520"/>
            <a:ext cx="2103120" cy="182880"/>
          </a:xfrm>
          <a:prstGeom prst="rect">
            <a:avLst/>
          </a:prstGeom>
          <a:noFill/>
          <a:ln/>
        </p:spPr>
        <p:txBody>
          <a:bodyPr wrap="square" rtlCol="0" anchor="ctr"/>
          <a:lstStyle/>
          <a:p>
            <a:pPr marL="0" indent="0" algn="r">
              <a:buNone/>
            </a:pPr>
            <a:r>
              <a:rPr lang="en-US" sz="950" dirty="0">
                <a:solidFill>
                  <a:srgbClr val="71717A"/>
                </a:solidFill>
                <a:latin typeface="Inter" pitchFamily="34" charset="0"/>
                <a:ea typeface="Inter" pitchFamily="34" charset="-122"/>
                <a:cs typeface="Inter" pitchFamily="34" charset="-120"/>
              </a:rPr>
              <a:t>5/1</a:t>
            </a:r>
            <a:r>
              <a:rPr lang="ar-LY" sz="950" dirty="0">
                <a:solidFill>
                  <a:srgbClr val="71717A"/>
                </a:solidFill>
                <a:latin typeface="Inter" pitchFamily="34" charset="0"/>
                <a:ea typeface="Inter" pitchFamily="34" charset="-122"/>
                <a:cs typeface="Inter" pitchFamily="34" charset="-120"/>
              </a:rPr>
              <a:t>1</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47857"/>
          </a:solidFill>
          <a:ln w="12700">
            <a:solidFill>
              <a:srgbClr val="047857"/>
            </a:solidFill>
            <a:prstDash val="solid"/>
          </a:ln>
        </p:spPr>
        <p:txBody>
          <a:bodyPr/>
          <a:lstStyle/>
          <a:p>
            <a:endParaRPr lang="en-US"/>
          </a:p>
        </p:txBody>
      </p:sp>
      <p:sp>
        <p:nvSpPr>
          <p:cNvPr id="3" name="Shape 1"/>
          <p:cNvSpPr/>
          <p:nvPr/>
        </p:nvSpPr>
        <p:spPr>
          <a:xfrm>
            <a:off x="0" y="6748272"/>
            <a:ext cx="12191695" cy="109728"/>
          </a:xfrm>
          <a:prstGeom prst="rect">
            <a:avLst/>
          </a:prstGeom>
          <a:solidFill>
            <a:srgbClr val="F59E0B"/>
          </a:solidFill>
          <a:ln w="12700">
            <a:solidFill>
              <a:srgbClr val="F59E0B"/>
            </a:solidFill>
            <a:prstDash val="solid"/>
          </a:ln>
        </p:spPr>
        <p:txBody>
          <a:bodyPr/>
          <a:lstStyle/>
          <a:p>
            <a:endParaRPr lang="en-US"/>
          </a:p>
        </p:txBody>
      </p:sp>
      <p:sp>
        <p:nvSpPr>
          <p:cNvPr id="5" name="Shape 3"/>
          <p:cNvSpPr/>
          <p:nvPr/>
        </p:nvSpPr>
        <p:spPr>
          <a:xfrm>
            <a:off x="411480" y="502920"/>
            <a:ext cx="11384280" cy="6035040"/>
          </a:xfrm>
          <a:prstGeom prst="roundRect">
            <a:avLst>
              <a:gd name="adj" fmla="val 11101"/>
            </a:avLst>
          </a:prstGeom>
          <a:solidFill>
            <a:srgbClr val="FFFFFF"/>
          </a:solidFill>
          <a:ln w="12700">
            <a:solidFill>
              <a:srgbClr val="E4E4E7"/>
            </a:solidFill>
            <a:prstDash val="solid"/>
          </a:ln>
          <a:effectLst>
            <a:outerShdw blurRad="50800" dist="50800" dir="2700000" algn="bl" rotWithShape="0">
              <a:srgbClr val="B6BCC6">
                <a:alpha val="18000"/>
              </a:srgbClr>
            </a:outerShdw>
          </a:effectLst>
        </p:spPr>
        <p:txBody>
          <a:bodyPr/>
          <a:lstStyle/>
          <a:p>
            <a:endParaRPr lang="en-US"/>
          </a:p>
        </p:txBody>
      </p:sp>
      <p:sp>
        <p:nvSpPr>
          <p:cNvPr id="6" name="Shape 4"/>
          <p:cNvSpPr/>
          <p:nvPr/>
        </p:nvSpPr>
        <p:spPr>
          <a:xfrm>
            <a:off x="640080" y="731520"/>
            <a:ext cx="10927080" cy="749808"/>
          </a:xfrm>
          <a:prstGeom prst="roundRect">
            <a:avLst>
              <a:gd name="adj" fmla="val 50000"/>
            </a:avLst>
          </a:prstGeom>
          <a:solidFill>
            <a:srgbClr val="ECFDF5"/>
          </a:solidFill>
          <a:ln w="12700">
            <a:solidFill>
              <a:srgbClr val="ECFDF5"/>
            </a:solidFill>
            <a:prstDash val="solid"/>
          </a:ln>
        </p:spPr>
        <p:txBody>
          <a:bodyPr/>
          <a:lstStyle/>
          <a:p>
            <a:endParaRPr lang="en-US"/>
          </a:p>
        </p:txBody>
      </p:sp>
      <p:sp>
        <p:nvSpPr>
          <p:cNvPr id="7" name="Text 5"/>
          <p:cNvSpPr/>
          <p:nvPr/>
        </p:nvSpPr>
        <p:spPr>
          <a:xfrm>
            <a:off x="868680" y="941832"/>
            <a:ext cx="10469880" cy="365760"/>
          </a:xfrm>
          <a:prstGeom prst="rect">
            <a:avLst/>
          </a:prstGeom>
          <a:noFill/>
          <a:ln/>
        </p:spPr>
        <p:txBody>
          <a:bodyPr wrap="square" rtlCol="0" anchor="ctr"/>
          <a:lstStyle/>
          <a:p>
            <a:pPr algn="r" rtl="1"/>
            <a:r>
              <a:rPr lang="en-US" sz="2600" b="1" dirty="0">
                <a:solidFill>
                  <a:srgbClr val="047857"/>
                </a:solidFill>
                <a:latin typeface="IBM Plex Sans Arabic" pitchFamily="34" charset="0"/>
                <a:ea typeface="IBM Plex Sans Arabic" pitchFamily="34" charset="-122"/>
                <a:cs typeface="IBM Plex Sans Arabic" pitchFamily="34" charset="-120"/>
              </a:rPr>
              <a:t>🧑‍💼</a:t>
            </a:r>
            <a:r>
              <a:rPr lang="en-US" b="1" dirty="0"/>
              <a:t> 📈</a:t>
            </a:r>
            <a:r>
              <a:rPr lang="en-US" sz="2600" b="1" dirty="0">
                <a:solidFill>
                  <a:srgbClr val="047857"/>
                </a:solidFill>
                <a:latin typeface="IBM Plex Sans Arabic" pitchFamily="34" charset="0"/>
                <a:ea typeface="IBM Plex Sans Arabic" pitchFamily="34" charset="-122"/>
                <a:cs typeface="IBM Plex Sans Arabic" pitchFamily="34" charset="-120"/>
              </a:rPr>
              <a:t>  </a:t>
            </a:r>
            <a:r>
              <a:rPr lang="ar-LY" sz="2600" b="1" dirty="0">
                <a:solidFill>
                  <a:srgbClr val="047857"/>
                </a:solidFill>
                <a:latin typeface="IBM Plex Sans Arabic" pitchFamily="34" charset="0"/>
                <a:ea typeface="IBM Plex Sans Arabic" pitchFamily="34" charset="-122"/>
                <a:cs typeface="IBM Plex Sans Arabic" pitchFamily="34" charset="-120"/>
              </a:rPr>
              <a:t>سيناريو عمل النظام</a:t>
            </a:r>
            <a:endParaRPr lang="en-US" sz="2600" dirty="0"/>
          </a:p>
        </p:txBody>
      </p:sp>
      <p:sp>
        <p:nvSpPr>
          <p:cNvPr id="8" name="Text 6"/>
          <p:cNvSpPr/>
          <p:nvPr/>
        </p:nvSpPr>
        <p:spPr>
          <a:xfrm>
            <a:off x="960120" y="1600200"/>
            <a:ext cx="10287000" cy="4572000"/>
          </a:xfrm>
          <a:prstGeom prst="rect">
            <a:avLst/>
          </a:prstGeom>
          <a:noFill/>
          <a:ln/>
        </p:spPr>
        <p:txBody>
          <a:bodyPr wrap="square" rtlCol="0" anchor="t"/>
          <a:lstStyle/>
          <a:p>
            <a:pPr algn="r" rtl="1"/>
            <a:r>
              <a:rPr lang="ar-LY" sz="1900" dirty="0">
                <a:solidFill>
                  <a:srgbClr val="0F172A"/>
                </a:solidFill>
                <a:latin typeface="IBM Plex Sans Arabic" pitchFamily="34" charset="0"/>
                <a:ea typeface="IBM Plex Sans Arabic" pitchFamily="34" charset="-122"/>
                <a:cs typeface="IBM Plex Sans Arabic" pitchFamily="34" charset="-120"/>
              </a:rPr>
              <a:t>يبدأ سيناريو عمل النظام بدخول المستخدم إلى الصفحة الرئيسية (</a:t>
            </a:r>
            <a:r>
              <a:rPr lang="en-US" sz="1900" dirty="0">
                <a:solidFill>
                  <a:srgbClr val="0F172A"/>
                </a:solidFill>
                <a:latin typeface="IBM Plex Sans Arabic" pitchFamily="34" charset="0"/>
                <a:ea typeface="IBM Plex Sans Arabic" pitchFamily="34" charset="-122"/>
                <a:cs typeface="IBM Plex Sans Arabic" pitchFamily="34" charset="-120"/>
              </a:rPr>
              <a:t>Landing Page)، </a:t>
            </a:r>
            <a:r>
              <a:rPr lang="ar-LY" sz="1900" dirty="0">
                <a:solidFill>
                  <a:srgbClr val="0F172A"/>
                </a:solidFill>
                <a:latin typeface="IBM Plex Sans Arabic" pitchFamily="34" charset="0"/>
                <a:ea typeface="IBM Plex Sans Arabic" pitchFamily="34" charset="-122"/>
                <a:cs typeface="IBM Plex Sans Arabic" pitchFamily="34" charset="-120"/>
              </a:rPr>
              <a:t>حيث يمكنه الاطلاع على مميزات النظام وباقات الاشتراك، ثم يقوم بإنشاء حساب جديد باستخدام البريد الإلكتروني وكلمة المرور.</a:t>
            </a:r>
          </a:p>
          <a:p>
            <a:pPr algn="r" rtl="1"/>
            <a:endParaRPr lang="ar-LY" sz="1900" dirty="0">
              <a:solidFill>
                <a:srgbClr val="0F172A"/>
              </a:solidFill>
              <a:latin typeface="IBM Plex Sans Arabic" pitchFamily="34" charset="0"/>
              <a:ea typeface="IBM Plex Sans Arabic" pitchFamily="34" charset="-122"/>
              <a:cs typeface="IBM Plex Sans Arabic" pitchFamily="34" charset="-120"/>
            </a:endParaRPr>
          </a:p>
          <a:p>
            <a:pPr algn="r" rtl="1"/>
            <a:r>
              <a:rPr lang="ar-LY" sz="1900" dirty="0">
                <a:solidFill>
                  <a:srgbClr val="0F172A"/>
                </a:solidFill>
                <a:latin typeface="IBM Plex Sans Arabic" pitchFamily="34" charset="0"/>
                <a:ea typeface="IBM Plex Sans Arabic" pitchFamily="34" charset="-122"/>
                <a:cs typeface="IBM Plex Sans Arabic" pitchFamily="34" charset="-120"/>
              </a:rPr>
              <a:t>بعد التسجيل ، يحصل صاحب المقهى على فترة تجريبية مجانية مدتها 14 يوماً.</a:t>
            </a:r>
          </a:p>
          <a:p>
            <a:pPr algn="r" rtl="1"/>
            <a:endParaRPr lang="ar-LY" sz="1900" dirty="0">
              <a:solidFill>
                <a:srgbClr val="0F172A"/>
              </a:solidFill>
              <a:latin typeface="IBM Plex Sans Arabic" pitchFamily="34" charset="0"/>
              <a:ea typeface="IBM Plex Sans Arabic" pitchFamily="34" charset="-122"/>
              <a:cs typeface="IBM Plex Sans Arabic" pitchFamily="34" charset="-120"/>
            </a:endParaRPr>
          </a:p>
          <a:p>
            <a:pPr algn="r" rtl="1"/>
            <a:r>
              <a:rPr lang="ar-LY" sz="1900" dirty="0">
                <a:solidFill>
                  <a:srgbClr val="0F172A"/>
                </a:solidFill>
                <a:latin typeface="IBM Plex Sans Arabic" pitchFamily="34" charset="0"/>
                <a:ea typeface="IBM Plex Sans Arabic" pitchFamily="34" charset="-122"/>
                <a:cs typeface="IBM Plex Sans Arabic" pitchFamily="34" charset="-120"/>
              </a:rPr>
              <a:t>بعد تسجيل الدخول، يقوم مالك المقهى بإدخال بيانات المقهى الخاص به، مثل الاسم بالعربية والإنجليزية، ثم يقوم بإضافة الفروع الخاصة به (مثل الفرع الرئيسي وفروع أخرى).</a:t>
            </a:r>
          </a:p>
          <a:p>
            <a:pPr algn="r" rtl="1"/>
            <a:endParaRPr lang="ar-LY" sz="1900" dirty="0">
              <a:solidFill>
                <a:srgbClr val="0F172A"/>
              </a:solidFill>
              <a:latin typeface="IBM Plex Sans Arabic" pitchFamily="34" charset="0"/>
              <a:ea typeface="IBM Plex Sans Arabic" pitchFamily="34" charset="-122"/>
              <a:cs typeface="IBM Plex Sans Arabic" pitchFamily="34" charset="-120"/>
            </a:endParaRPr>
          </a:p>
          <a:p>
            <a:pPr algn="r" rtl="1"/>
            <a:r>
              <a:rPr lang="ar-LY" sz="1900" dirty="0">
                <a:solidFill>
                  <a:srgbClr val="0F172A"/>
                </a:solidFill>
                <a:latin typeface="IBM Plex Sans Arabic" pitchFamily="34" charset="0"/>
                <a:ea typeface="IBM Plex Sans Arabic" pitchFamily="34" charset="-122"/>
                <a:cs typeface="IBM Plex Sans Arabic" pitchFamily="34" charset="-120"/>
              </a:rPr>
              <a:t>بعد ذلك، تظهر له لوحة التحكم الرئيسية التي تمكنه من إدارة جميع العمليات، مثل إضافة المنتجات وتحديد أسعارها، وإنشاء وصفات لكل منتج، وإدارة المخزون والموظفين.</a:t>
            </a:r>
          </a:p>
        </p:txBody>
      </p:sp>
      <p:sp>
        <p:nvSpPr>
          <p:cNvPr id="9" name="Text 2">
            <a:extLst>
              <a:ext uri="{FF2B5EF4-FFF2-40B4-BE49-F238E27FC236}">
                <a16:creationId xmlns:a16="http://schemas.microsoft.com/office/drawing/2014/main" id="{9AFF4649-A36B-BDB0-340E-5F37FE8B5E42}"/>
              </a:ext>
            </a:extLst>
          </p:cNvPr>
          <p:cNvSpPr/>
          <p:nvPr/>
        </p:nvSpPr>
        <p:spPr>
          <a:xfrm>
            <a:off x="9881130" y="6446520"/>
            <a:ext cx="2103120" cy="182880"/>
          </a:xfrm>
          <a:prstGeom prst="rect">
            <a:avLst/>
          </a:prstGeom>
          <a:noFill/>
          <a:ln/>
        </p:spPr>
        <p:txBody>
          <a:bodyPr wrap="square" rtlCol="0" anchor="ctr"/>
          <a:lstStyle/>
          <a:p>
            <a:pPr marL="0" indent="0" algn="r">
              <a:buNone/>
            </a:pPr>
            <a:r>
              <a:rPr lang="en-US" sz="950" dirty="0">
                <a:solidFill>
                  <a:srgbClr val="71717A"/>
                </a:solidFill>
                <a:latin typeface="Inter" pitchFamily="34" charset="0"/>
                <a:ea typeface="Inter" pitchFamily="34" charset="-122"/>
                <a:cs typeface="Inter" pitchFamily="34" charset="-120"/>
              </a:rPr>
              <a:t>6/1</a:t>
            </a:r>
            <a:r>
              <a:rPr lang="ar-LY" sz="950" dirty="0">
                <a:solidFill>
                  <a:srgbClr val="71717A"/>
                </a:solidFill>
                <a:latin typeface="Inter" pitchFamily="34" charset="0"/>
                <a:ea typeface="Inter" pitchFamily="34" charset="-122"/>
                <a:cs typeface="Inter" pitchFamily="34" charset="-120"/>
              </a:rPr>
              <a:t>1</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F66C42D6-7138-2DB9-0F9B-3135682C337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F903EFA-5757-46BF-FBB6-90637A7E423E}"/>
              </a:ext>
            </a:extLst>
          </p:cNvPr>
          <p:cNvSpPr/>
          <p:nvPr/>
        </p:nvSpPr>
        <p:spPr>
          <a:xfrm>
            <a:off x="0" y="0"/>
            <a:ext cx="12191695" cy="109728"/>
          </a:xfrm>
          <a:prstGeom prst="rect">
            <a:avLst/>
          </a:prstGeom>
          <a:solidFill>
            <a:srgbClr val="047857"/>
          </a:solidFill>
          <a:ln w="12700">
            <a:solidFill>
              <a:srgbClr val="047857"/>
            </a:solidFill>
            <a:prstDash val="solid"/>
          </a:ln>
        </p:spPr>
        <p:txBody>
          <a:bodyPr/>
          <a:lstStyle/>
          <a:p>
            <a:endParaRPr lang="en-US"/>
          </a:p>
        </p:txBody>
      </p:sp>
      <p:sp>
        <p:nvSpPr>
          <p:cNvPr id="3" name="Shape 1">
            <a:extLst>
              <a:ext uri="{FF2B5EF4-FFF2-40B4-BE49-F238E27FC236}">
                <a16:creationId xmlns:a16="http://schemas.microsoft.com/office/drawing/2014/main" id="{719DD770-EF10-2621-644C-E1DE0AE746F3}"/>
              </a:ext>
            </a:extLst>
          </p:cNvPr>
          <p:cNvSpPr/>
          <p:nvPr/>
        </p:nvSpPr>
        <p:spPr>
          <a:xfrm>
            <a:off x="0" y="6748272"/>
            <a:ext cx="12191695" cy="109728"/>
          </a:xfrm>
          <a:prstGeom prst="rect">
            <a:avLst/>
          </a:prstGeom>
          <a:solidFill>
            <a:srgbClr val="F59E0B"/>
          </a:solidFill>
          <a:ln w="12700">
            <a:solidFill>
              <a:srgbClr val="F59E0B"/>
            </a:solidFill>
            <a:prstDash val="solid"/>
          </a:ln>
        </p:spPr>
        <p:txBody>
          <a:bodyPr/>
          <a:lstStyle/>
          <a:p>
            <a:endParaRPr lang="en-US"/>
          </a:p>
        </p:txBody>
      </p:sp>
      <p:sp>
        <p:nvSpPr>
          <p:cNvPr id="5" name="Shape 3">
            <a:extLst>
              <a:ext uri="{FF2B5EF4-FFF2-40B4-BE49-F238E27FC236}">
                <a16:creationId xmlns:a16="http://schemas.microsoft.com/office/drawing/2014/main" id="{3E1F9A3E-93EA-05B0-87F9-C1C9A4C38939}"/>
              </a:ext>
            </a:extLst>
          </p:cNvPr>
          <p:cNvSpPr/>
          <p:nvPr/>
        </p:nvSpPr>
        <p:spPr>
          <a:xfrm>
            <a:off x="411480" y="502920"/>
            <a:ext cx="11384280" cy="6035040"/>
          </a:xfrm>
          <a:prstGeom prst="roundRect">
            <a:avLst>
              <a:gd name="adj" fmla="val 11256"/>
            </a:avLst>
          </a:prstGeom>
          <a:solidFill>
            <a:srgbClr val="FFFFFF"/>
          </a:solidFill>
          <a:ln w="12700">
            <a:solidFill>
              <a:srgbClr val="E4E4E7"/>
            </a:solidFill>
            <a:prstDash val="solid"/>
          </a:ln>
          <a:effectLst>
            <a:outerShdw blurRad="50800" dist="50800" dir="2700000" algn="bl" rotWithShape="0">
              <a:srgbClr val="B6BCC6">
                <a:alpha val="18000"/>
              </a:srgbClr>
            </a:outerShdw>
          </a:effectLst>
        </p:spPr>
        <p:txBody>
          <a:bodyPr/>
          <a:lstStyle/>
          <a:p>
            <a:endParaRPr lang="en-US"/>
          </a:p>
        </p:txBody>
      </p:sp>
      <p:sp>
        <p:nvSpPr>
          <p:cNvPr id="6" name="Shape 4">
            <a:extLst>
              <a:ext uri="{FF2B5EF4-FFF2-40B4-BE49-F238E27FC236}">
                <a16:creationId xmlns:a16="http://schemas.microsoft.com/office/drawing/2014/main" id="{9BEAD5AA-2026-9FBA-C9CF-69F924A04D75}"/>
              </a:ext>
            </a:extLst>
          </p:cNvPr>
          <p:cNvSpPr/>
          <p:nvPr/>
        </p:nvSpPr>
        <p:spPr>
          <a:xfrm>
            <a:off x="640080" y="731520"/>
            <a:ext cx="10927080" cy="749808"/>
          </a:xfrm>
          <a:prstGeom prst="roundRect">
            <a:avLst>
              <a:gd name="adj" fmla="val 50000"/>
            </a:avLst>
          </a:prstGeom>
          <a:solidFill>
            <a:srgbClr val="ECFDF5"/>
          </a:solidFill>
          <a:ln w="12700">
            <a:solidFill>
              <a:srgbClr val="ECFDF5"/>
            </a:solidFill>
            <a:prstDash val="solid"/>
          </a:ln>
        </p:spPr>
        <p:txBody>
          <a:bodyPr/>
          <a:lstStyle/>
          <a:p>
            <a:endParaRPr lang="en-US"/>
          </a:p>
        </p:txBody>
      </p:sp>
      <p:sp>
        <p:nvSpPr>
          <p:cNvPr id="7" name="Text 5">
            <a:extLst>
              <a:ext uri="{FF2B5EF4-FFF2-40B4-BE49-F238E27FC236}">
                <a16:creationId xmlns:a16="http://schemas.microsoft.com/office/drawing/2014/main" id="{E6DC0B3B-E284-EE2F-84DE-CD478A5A50A6}"/>
              </a:ext>
            </a:extLst>
          </p:cNvPr>
          <p:cNvSpPr/>
          <p:nvPr/>
        </p:nvSpPr>
        <p:spPr>
          <a:xfrm>
            <a:off x="868680" y="941832"/>
            <a:ext cx="10469880" cy="365760"/>
          </a:xfrm>
          <a:prstGeom prst="rect">
            <a:avLst/>
          </a:prstGeom>
          <a:noFill/>
          <a:ln/>
        </p:spPr>
        <p:txBody>
          <a:bodyPr wrap="square" rtlCol="0" anchor="ctr"/>
          <a:lstStyle/>
          <a:p>
            <a:pPr algn="r" rtl="1"/>
            <a:r>
              <a:rPr lang="en-US" sz="2600" b="1" dirty="0">
                <a:solidFill>
                  <a:srgbClr val="047857"/>
                </a:solidFill>
                <a:latin typeface="IBM Plex Sans Arabic" pitchFamily="34" charset="0"/>
                <a:ea typeface="IBM Plex Sans Arabic" pitchFamily="34" charset="-122"/>
                <a:cs typeface="IBM Plex Sans Arabic" pitchFamily="34" charset="-120"/>
              </a:rPr>
              <a:t>🧑‍💼</a:t>
            </a:r>
            <a:r>
              <a:rPr lang="en-US" b="1" dirty="0"/>
              <a:t> 📈</a:t>
            </a:r>
            <a:r>
              <a:rPr lang="en-US" sz="2600" b="1" dirty="0">
                <a:solidFill>
                  <a:srgbClr val="047857"/>
                </a:solidFill>
                <a:latin typeface="IBM Plex Sans Arabic" pitchFamily="34" charset="0"/>
                <a:ea typeface="IBM Plex Sans Arabic" pitchFamily="34" charset="-122"/>
                <a:cs typeface="IBM Plex Sans Arabic" pitchFamily="34" charset="-120"/>
              </a:rPr>
              <a:t>  </a:t>
            </a:r>
            <a:r>
              <a:rPr lang="ar-LY" sz="2600" b="1" dirty="0">
                <a:solidFill>
                  <a:srgbClr val="047857"/>
                </a:solidFill>
                <a:latin typeface="IBM Plex Sans Arabic" pitchFamily="34" charset="0"/>
                <a:ea typeface="IBM Plex Sans Arabic" pitchFamily="34" charset="-122"/>
                <a:cs typeface="IBM Plex Sans Arabic" pitchFamily="34" charset="-120"/>
              </a:rPr>
              <a:t>سيناريو عمل النظام</a:t>
            </a:r>
            <a:endParaRPr lang="en-US" sz="2600" dirty="0"/>
          </a:p>
        </p:txBody>
      </p:sp>
      <p:sp>
        <p:nvSpPr>
          <p:cNvPr id="8" name="Text 6">
            <a:extLst>
              <a:ext uri="{FF2B5EF4-FFF2-40B4-BE49-F238E27FC236}">
                <a16:creationId xmlns:a16="http://schemas.microsoft.com/office/drawing/2014/main" id="{6AF9A0E3-E877-3C8E-EE23-A1C2B9B8CF7D}"/>
              </a:ext>
            </a:extLst>
          </p:cNvPr>
          <p:cNvSpPr/>
          <p:nvPr/>
        </p:nvSpPr>
        <p:spPr>
          <a:xfrm>
            <a:off x="960120" y="1600200"/>
            <a:ext cx="10287000" cy="4572000"/>
          </a:xfrm>
          <a:prstGeom prst="rect">
            <a:avLst/>
          </a:prstGeom>
          <a:noFill/>
          <a:ln/>
        </p:spPr>
        <p:txBody>
          <a:bodyPr wrap="square" rtlCol="0" anchor="t"/>
          <a:lstStyle/>
          <a:p>
            <a:pPr algn="r" rtl="1"/>
            <a:r>
              <a:rPr lang="ar-LY" sz="1900" dirty="0">
                <a:solidFill>
                  <a:srgbClr val="0F172A"/>
                </a:solidFill>
                <a:latin typeface="IBM Plex Sans Arabic" pitchFamily="34" charset="0"/>
                <a:ea typeface="IBM Plex Sans Arabic" pitchFamily="34" charset="-122"/>
                <a:cs typeface="IBM Plex Sans Arabic" pitchFamily="34" charset="-120"/>
              </a:rPr>
              <a:t>يمكن للمالك أو المدير دعوة الموظفين من خلال رابط دعوة يتم إنشاؤه داخل النظام، حيث يتم تحديد الدور الوظيفي والصلاحيات مسبقًا، ويقوم الموظف بإكمال التسجيل عبر الرابط.</a:t>
            </a:r>
          </a:p>
          <a:p>
            <a:pPr algn="r" rtl="1"/>
            <a:endParaRPr lang="ar-LY" sz="1900" dirty="0">
              <a:solidFill>
                <a:srgbClr val="0F172A"/>
              </a:solidFill>
              <a:latin typeface="IBM Plex Sans Arabic" pitchFamily="34" charset="0"/>
              <a:ea typeface="IBM Plex Sans Arabic" pitchFamily="34" charset="-122"/>
              <a:cs typeface="IBM Plex Sans Arabic" pitchFamily="34" charset="-120"/>
            </a:endParaRPr>
          </a:p>
          <a:p>
            <a:pPr algn="r" rtl="1"/>
            <a:r>
              <a:rPr lang="ar-LY" sz="1900" dirty="0">
                <a:solidFill>
                  <a:srgbClr val="0F172A"/>
                </a:solidFill>
                <a:latin typeface="IBM Plex Sans Arabic" pitchFamily="34" charset="0"/>
                <a:ea typeface="IBM Plex Sans Arabic" pitchFamily="34" charset="-122"/>
                <a:cs typeface="IBM Plex Sans Arabic" pitchFamily="34" charset="-120"/>
              </a:rPr>
              <a:t>عند تنفيذ أي طلب من خلال شاشة </a:t>
            </a:r>
            <a:r>
              <a:rPr lang="en-US" sz="1900" dirty="0">
                <a:solidFill>
                  <a:srgbClr val="0F172A"/>
                </a:solidFill>
                <a:latin typeface="IBM Plex Sans Arabic" pitchFamily="34" charset="0"/>
                <a:ea typeface="IBM Plex Sans Arabic" pitchFamily="34" charset="-122"/>
                <a:cs typeface="IBM Plex Sans Arabic" pitchFamily="34" charset="-120"/>
              </a:rPr>
              <a:t>POS، </a:t>
            </a:r>
            <a:r>
              <a:rPr lang="ar-LY" sz="1900" dirty="0">
                <a:solidFill>
                  <a:srgbClr val="0F172A"/>
                </a:solidFill>
                <a:latin typeface="IBM Plex Sans Arabic" pitchFamily="34" charset="0"/>
                <a:ea typeface="IBM Plex Sans Arabic" pitchFamily="34" charset="-122"/>
                <a:cs typeface="IBM Plex Sans Arabic" pitchFamily="34" charset="-120"/>
              </a:rPr>
              <a:t>يتم تسجيل الطلب ضمن المبيعات، ويتم خصم مكونات المنتج تلقائيًا من المخزون بناءً على الوصفة المحددة.</a:t>
            </a:r>
          </a:p>
          <a:p>
            <a:pPr algn="r" rtl="1"/>
            <a:endParaRPr lang="ar-LY" sz="1900" dirty="0">
              <a:solidFill>
                <a:srgbClr val="0F172A"/>
              </a:solidFill>
              <a:latin typeface="IBM Plex Sans Arabic" pitchFamily="34" charset="0"/>
              <a:ea typeface="IBM Plex Sans Arabic" pitchFamily="34" charset="-122"/>
              <a:cs typeface="IBM Plex Sans Arabic" pitchFamily="34" charset="-120"/>
            </a:endParaRPr>
          </a:p>
          <a:p>
            <a:pPr algn="r" rtl="1"/>
            <a:r>
              <a:rPr lang="ar-LY" sz="1900" dirty="0">
                <a:solidFill>
                  <a:srgbClr val="0F172A"/>
                </a:solidFill>
                <a:latin typeface="IBM Plex Sans Arabic" pitchFamily="34" charset="0"/>
                <a:ea typeface="IBM Plex Sans Arabic" pitchFamily="34" charset="-122"/>
                <a:cs typeface="IBM Plex Sans Arabic" pitchFamily="34" charset="-120"/>
              </a:rPr>
              <a:t>يوفر النظام تقارير متعددة تشمل المبيعات والمخزون وأداء الموظفين، مما يساعد في اتخاذ قرارات إدارية دقيقة.</a:t>
            </a:r>
          </a:p>
          <a:p>
            <a:pPr algn="r" rtl="1"/>
            <a:endParaRPr lang="ar-LY" sz="1900" dirty="0">
              <a:solidFill>
                <a:srgbClr val="0F172A"/>
              </a:solidFill>
              <a:latin typeface="IBM Plex Sans Arabic" pitchFamily="34" charset="0"/>
              <a:ea typeface="IBM Plex Sans Arabic" pitchFamily="34" charset="-122"/>
              <a:cs typeface="IBM Plex Sans Arabic" pitchFamily="34" charset="-120"/>
            </a:endParaRPr>
          </a:p>
          <a:p>
            <a:pPr algn="r" rtl="1"/>
            <a:r>
              <a:rPr lang="ar-LY" sz="1900" dirty="0">
                <a:solidFill>
                  <a:srgbClr val="0F172A"/>
                </a:solidFill>
                <a:latin typeface="IBM Plex Sans Arabic" pitchFamily="34" charset="0"/>
                <a:ea typeface="IBM Plex Sans Arabic" pitchFamily="34" charset="-122"/>
                <a:cs typeface="IBM Plex Sans Arabic" pitchFamily="34" charset="-120"/>
              </a:rPr>
              <a:t>كما يحتوي النظام على لوحة تحكم خاصة بمالك المنصة (</a:t>
            </a:r>
            <a:r>
              <a:rPr lang="en-US" sz="1900" dirty="0">
                <a:solidFill>
                  <a:srgbClr val="0F172A"/>
                </a:solidFill>
                <a:latin typeface="IBM Plex Sans Arabic" pitchFamily="34" charset="0"/>
                <a:ea typeface="IBM Plex Sans Arabic" pitchFamily="34" charset="-122"/>
                <a:cs typeface="IBM Plex Sans Arabic" pitchFamily="34" charset="-120"/>
              </a:rPr>
              <a:t>Platform Dashboard) </a:t>
            </a:r>
            <a:r>
              <a:rPr lang="ar-LY" sz="1900" dirty="0">
                <a:solidFill>
                  <a:srgbClr val="0F172A"/>
                </a:solidFill>
                <a:latin typeface="IBM Plex Sans Arabic" pitchFamily="34" charset="0"/>
                <a:ea typeface="IBM Plex Sans Arabic" pitchFamily="34" charset="-122"/>
                <a:cs typeface="IBM Plex Sans Arabic" pitchFamily="34" charset="-120"/>
              </a:rPr>
              <a:t>تتيح له متابعة عدد المقاهي، الفروع، الاشتراكات، وإجمالي الأرباح، مع تأمينها باستخدام نظام تحقق ثنائي (</a:t>
            </a:r>
            <a:r>
              <a:rPr lang="en-US" sz="1900" dirty="0">
                <a:solidFill>
                  <a:srgbClr val="0F172A"/>
                </a:solidFill>
                <a:latin typeface="IBM Plex Sans Arabic" pitchFamily="34" charset="0"/>
                <a:ea typeface="IBM Plex Sans Arabic" pitchFamily="34" charset="-122"/>
                <a:cs typeface="IBM Plex Sans Arabic" pitchFamily="34" charset="-120"/>
              </a:rPr>
              <a:t>Two-Factor Authentication).</a:t>
            </a:r>
            <a:endParaRPr lang="en-US" sz="1900" dirty="0"/>
          </a:p>
        </p:txBody>
      </p:sp>
      <p:sp>
        <p:nvSpPr>
          <p:cNvPr id="9" name="Text 2">
            <a:extLst>
              <a:ext uri="{FF2B5EF4-FFF2-40B4-BE49-F238E27FC236}">
                <a16:creationId xmlns:a16="http://schemas.microsoft.com/office/drawing/2014/main" id="{4FC6CD60-9AE4-0B82-F700-C636E24E24F9}"/>
              </a:ext>
            </a:extLst>
          </p:cNvPr>
          <p:cNvSpPr/>
          <p:nvPr/>
        </p:nvSpPr>
        <p:spPr>
          <a:xfrm>
            <a:off x="9881130" y="6446520"/>
            <a:ext cx="2103120" cy="182880"/>
          </a:xfrm>
          <a:prstGeom prst="rect">
            <a:avLst/>
          </a:prstGeom>
          <a:noFill/>
          <a:ln/>
        </p:spPr>
        <p:txBody>
          <a:bodyPr wrap="square" rtlCol="0" anchor="ctr"/>
          <a:lstStyle/>
          <a:p>
            <a:pPr marL="0" indent="0" algn="r">
              <a:buNone/>
            </a:pPr>
            <a:r>
              <a:rPr lang="en-US" sz="950" dirty="0">
                <a:solidFill>
                  <a:srgbClr val="71717A"/>
                </a:solidFill>
                <a:latin typeface="Inter" pitchFamily="34" charset="0"/>
                <a:ea typeface="Inter" pitchFamily="34" charset="-122"/>
                <a:cs typeface="Inter" pitchFamily="34" charset="-120"/>
              </a:rPr>
              <a:t>7/1</a:t>
            </a:r>
            <a:r>
              <a:rPr lang="ar-LY" sz="950" dirty="0">
                <a:solidFill>
                  <a:srgbClr val="71717A"/>
                </a:solidFill>
                <a:latin typeface="Inter" pitchFamily="34" charset="0"/>
                <a:ea typeface="Inter" pitchFamily="34" charset="-122"/>
                <a:cs typeface="Inter" pitchFamily="34" charset="-120"/>
              </a:rPr>
              <a:t>1</a:t>
            </a:r>
            <a:endParaRPr lang="en-US" sz="950" dirty="0"/>
          </a:p>
        </p:txBody>
      </p:sp>
    </p:spTree>
    <p:extLst>
      <p:ext uri="{BB962C8B-B14F-4D97-AF65-F5344CB8AC3E}">
        <p14:creationId xmlns:p14="http://schemas.microsoft.com/office/powerpoint/2010/main" val="12920690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47857"/>
          </a:solidFill>
          <a:ln w="12700">
            <a:solidFill>
              <a:srgbClr val="047857"/>
            </a:solidFill>
            <a:prstDash val="solid"/>
          </a:ln>
        </p:spPr>
        <p:txBody>
          <a:bodyPr/>
          <a:lstStyle/>
          <a:p>
            <a:endParaRPr lang="en-US"/>
          </a:p>
        </p:txBody>
      </p:sp>
      <p:sp>
        <p:nvSpPr>
          <p:cNvPr id="3" name="Shape 1"/>
          <p:cNvSpPr/>
          <p:nvPr/>
        </p:nvSpPr>
        <p:spPr>
          <a:xfrm>
            <a:off x="0" y="6748272"/>
            <a:ext cx="12191695" cy="109728"/>
          </a:xfrm>
          <a:prstGeom prst="rect">
            <a:avLst/>
          </a:prstGeom>
          <a:solidFill>
            <a:srgbClr val="F59E0B"/>
          </a:solidFill>
          <a:ln w="12700">
            <a:solidFill>
              <a:srgbClr val="F59E0B"/>
            </a:solidFill>
            <a:prstDash val="solid"/>
          </a:ln>
        </p:spPr>
        <p:txBody>
          <a:bodyPr/>
          <a:lstStyle/>
          <a:p>
            <a:endParaRPr lang="en-US"/>
          </a:p>
        </p:txBody>
      </p:sp>
      <p:sp>
        <p:nvSpPr>
          <p:cNvPr id="5" name="Shape 3"/>
          <p:cNvSpPr/>
          <p:nvPr/>
        </p:nvSpPr>
        <p:spPr>
          <a:xfrm>
            <a:off x="411480" y="502920"/>
            <a:ext cx="11384280" cy="6035040"/>
          </a:xfrm>
          <a:prstGeom prst="roundRect">
            <a:avLst>
              <a:gd name="adj" fmla="val 10947"/>
            </a:avLst>
          </a:prstGeom>
          <a:solidFill>
            <a:srgbClr val="FFFFFF"/>
          </a:solidFill>
          <a:ln w="12700">
            <a:solidFill>
              <a:srgbClr val="E4E4E7"/>
            </a:solidFill>
            <a:prstDash val="solid"/>
          </a:ln>
          <a:effectLst>
            <a:outerShdw blurRad="50800" dist="50800" dir="2700000" algn="bl" rotWithShape="0">
              <a:srgbClr val="B6BCC6">
                <a:alpha val="18000"/>
              </a:srgbClr>
            </a:outerShdw>
          </a:effectLst>
        </p:spPr>
        <p:txBody>
          <a:bodyPr/>
          <a:lstStyle/>
          <a:p>
            <a:endParaRPr lang="en-US"/>
          </a:p>
        </p:txBody>
      </p:sp>
      <p:sp>
        <p:nvSpPr>
          <p:cNvPr id="6" name="Shape 4"/>
          <p:cNvSpPr/>
          <p:nvPr/>
        </p:nvSpPr>
        <p:spPr>
          <a:xfrm>
            <a:off x="640080" y="731520"/>
            <a:ext cx="10927080" cy="749808"/>
          </a:xfrm>
          <a:prstGeom prst="roundRect">
            <a:avLst>
              <a:gd name="adj" fmla="val 50000"/>
            </a:avLst>
          </a:prstGeom>
          <a:solidFill>
            <a:srgbClr val="ECFDF5"/>
          </a:solidFill>
          <a:ln w="12700">
            <a:solidFill>
              <a:srgbClr val="ECFDF5"/>
            </a:solidFill>
            <a:prstDash val="solid"/>
          </a:ln>
        </p:spPr>
        <p:txBody>
          <a:bodyPr/>
          <a:lstStyle/>
          <a:p>
            <a:endParaRPr lang="en-US"/>
          </a:p>
        </p:txBody>
      </p:sp>
      <p:sp>
        <p:nvSpPr>
          <p:cNvPr id="7" name="Text 5"/>
          <p:cNvSpPr/>
          <p:nvPr/>
        </p:nvSpPr>
        <p:spPr>
          <a:xfrm>
            <a:off x="868680" y="941832"/>
            <a:ext cx="10469880" cy="365760"/>
          </a:xfrm>
          <a:prstGeom prst="rect">
            <a:avLst/>
          </a:prstGeom>
          <a:noFill/>
          <a:ln/>
        </p:spPr>
        <p:txBody>
          <a:bodyPr wrap="square" rtlCol="0" anchor="ctr"/>
          <a:lstStyle/>
          <a:p>
            <a:pPr algn="r" rtl="1"/>
            <a:r>
              <a:rPr lang="en-US" sz="2600" b="1" dirty="0">
                <a:solidFill>
                  <a:srgbClr val="047857"/>
                </a:solidFill>
                <a:latin typeface="IBM Plex Sans Arabic" pitchFamily="34" charset="0"/>
                <a:ea typeface="IBM Plex Sans Arabic" pitchFamily="34" charset="-122"/>
                <a:cs typeface="IBM Plex Sans Arabic" pitchFamily="34" charset="-120"/>
              </a:rPr>
              <a:t>🛠️  </a:t>
            </a:r>
            <a:r>
              <a:rPr lang="en-US" sz="2600" b="1" dirty="0" err="1">
                <a:solidFill>
                  <a:srgbClr val="047857"/>
                </a:solidFill>
                <a:latin typeface="IBM Plex Sans Arabic" pitchFamily="34" charset="0"/>
                <a:ea typeface="IBM Plex Sans Arabic" pitchFamily="34" charset="-122"/>
                <a:cs typeface="IBM Plex Sans Arabic" pitchFamily="34" charset="-120"/>
              </a:rPr>
              <a:t>التقنيات</a:t>
            </a:r>
            <a:r>
              <a:rPr lang="en-US" sz="2600" b="1" dirty="0">
                <a:solidFill>
                  <a:srgbClr val="047857"/>
                </a:solidFill>
                <a:latin typeface="IBM Plex Sans Arabic" pitchFamily="34" charset="0"/>
                <a:ea typeface="IBM Plex Sans Arabic" pitchFamily="34" charset="-122"/>
                <a:cs typeface="IBM Plex Sans Arabic" pitchFamily="34" charset="-120"/>
              </a:rPr>
              <a:t> و</a:t>
            </a:r>
            <a:r>
              <a:rPr lang="ar-LY" sz="2600" b="1" dirty="0">
                <a:solidFill>
                  <a:srgbClr val="047857"/>
                </a:solidFill>
                <a:latin typeface="IBM Plex Sans Arabic" pitchFamily="34" charset="0"/>
                <a:ea typeface="IBM Plex Sans Arabic" pitchFamily="34" charset="-122"/>
                <a:cs typeface="IBM Plex Sans Arabic" pitchFamily="34" charset="-120"/>
              </a:rPr>
              <a:t> </a:t>
            </a:r>
            <a:r>
              <a:rPr lang="en-US" sz="2600" b="1" dirty="0" err="1">
                <a:solidFill>
                  <a:srgbClr val="047857"/>
                </a:solidFill>
                <a:latin typeface="IBM Plex Sans Arabic" pitchFamily="34" charset="0"/>
                <a:ea typeface="IBM Plex Sans Arabic" pitchFamily="34" charset="-122"/>
                <a:cs typeface="IBM Plex Sans Arabic" pitchFamily="34" charset="-120"/>
              </a:rPr>
              <a:t>الأدوات</a:t>
            </a:r>
            <a:r>
              <a:rPr lang="ar-LY" sz="2600" b="1" dirty="0">
                <a:solidFill>
                  <a:srgbClr val="047857"/>
                </a:solidFill>
                <a:latin typeface="IBM Plex Sans Arabic" pitchFamily="34" charset="0"/>
                <a:ea typeface="IBM Plex Sans Arabic" pitchFamily="34" charset="-122"/>
                <a:cs typeface="IBM Plex Sans Arabic" pitchFamily="34" charset="-120"/>
              </a:rPr>
              <a:t> المستخدمة</a:t>
            </a:r>
            <a:endParaRPr lang="en-US" sz="2600" dirty="0"/>
          </a:p>
        </p:txBody>
      </p:sp>
      <p:sp>
        <p:nvSpPr>
          <p:cNvPr id="8" name="Text 6"/>
          <p:cNvSpPr/>
          <p:nvPr/>
        </p:nvSpPr>
        <p:spPr>
          <a:xfrm>
            <a:off x="960120" y="1600200"/>
            <a:ext cx="10287000" cy="4572000"/>
          </a:xfrm>
          <a:prstGeom prst="rect">
            <a:avLst/>
          </a:prstGeom>
          <a:noFill/>
          <a:ln/>
        </p:spPr>
        <p:txBody>
          <a:bodyPr wrap="square" rtlCol="0" anchor="t"/>
          <a:lstStyle/>
          <a:p>
            <a:pPr rtl="1">
              <a:lnSpc>
                <a:spcPct val="150000"/>
              </a:lnSpc>
            </a:pPr>
            <a:r>
              <a:rPr lang="en-US" sz="1900" dirty="0"/>
              <a:t>Next.js</a:t>
            </a:r>
          </a:p>
          <a:p>
            <a:pPr rtl="1">
              <a:lnSpc>
                <a:spcPct val="150000"/>
              </a:lnSpc>
            </a:pPr>
            <a:r>
              <a:rPr lang="en-US" sz="1900" dirty="0"/>
              <a:t>React</a:t>
            </a:r>
          </a:p>
          <a:p>
            <a:pPr rtl="1">
              <a:lnSpc>
                <a:spcPct val="150000"/>
              </a:lnSpc>
            </a:pPr>
            <a:r>
              <a:rPr lang="en-US" sz="1900" dirty="0"/>
              <a:t>TypeScript</a:t>
            </a:r>
          </a:p>
          <a:p>
            <a:pPr rtl="1">
              <a:lnSpc>
                <a:spcPct val="150000"/>
              </a:lnSpc>
            </a:pPr>
            <a:r>
              <a:rPr lang="en-US" sz="1900" dirty="0"/>
              <a:t>Node.js</a:t>
            </a:r>
          </a:p>
          <a:p>
            <a:pPr rtl="1">
              <a:lnSpc>
                <a:spcPct val="150000"/>
              </a:lnSpc>
            </a:pPr>
            <a:r>
              <a:rPr lang="en-US" sz="1900" dirty="0"/>
              <a:t>PostgreSQL</a:t>
            </a:r>
          </a:p>
          <a:p>
            <a:pPr rtl="1">
              <a:lnSpc>
                <a:spcPct val="150000"/>
              </a:lnSpc>
            </a:pPr>
            <a:r>
              <a:rPr lang="en-US" sz="1900" dirty="0"/>
              <a:t>Prisma</a:t>
            </a:r>
          </a:p>
          <a:p>
            <a:pPr rtl="1">
              <a:lnSpc>
                <a:spcPct val="150000"/>
              </a:lnSpc>
            </a:pPr>
            <a:r>
              <a:rPr lang="en-US" sz="1900" dirty="0"/>
              <a:t>Auth.js</a:t>
            </a:r>
          </a:p>
          <a:p>
            <a:pPr rtl="1">
              <a:lnSpc>
                <a:spcPct val="150000"/>
              </a:lnSpc>
            </a:pPr>
            <a:endParaRPr lang="en-US" sz="1900" dirty="0"/>
          </a:p>
          <a:p>
            <a:pPr rtl="1">
              <a:lnSpc>
                <a:spcPct val="150000"/>
              </a:lnSpc>
            </a:pPr>
            <a:r>
              <a:rPr lang="en-US" sz="1900" dirty="0"/>
              <a:t>Visual Studio Code</a:t>
            </a:r>
          </a:p>
        </p:txBody>
      </p:sp>
      <p:sp>
        <p:nvSpPr>
          <p:cNvPr id="9" name="Text 2">
            <a:extLst>
              <a:ext uri="{FF2B5EF4-FFF2-40B4-BE49-F238E27FC236}">
                <a16:creationId xmlns:a16="http://schemas.microsoft.com/office/drawing/2014/main" id="{4BD29FD5-9080-2DDE-0603-61AC74B84DDA}"/>
              </a:ext>
            </a:extLst>
          </p:cNvPr>
          <p:cNvSpPr/>
          <p:nvPr/>
        </p:nvSpPr>
        <p:spPr>
          <a:xfrm>
            <a:off x="9881130" y="6446520"/>
            <a:ext cx="2103120" cy="182880"/>
          </a:xfrm>
          <a:prstGeom prst="rect">
            <a:avLst/>
          </a:prstGeom>
          <a:noFill/>
          <a:ln/>
        </p:spPr>
        <p:txBody>
          <a:bodyPr wrap="square" rtlCol="0" anchor="ctr"/>
          <a:lstStyle/>
          <a:p>
            <a:pPr marL="0" indent="0" algn="r">
              <a:buNone/>
            </a:pPr>
            <a:r>
              <a:rPr lang="en-US" sz="950" dirty="0">
                <a:solidFill>
                  <a:srgbClr val="71717A"/>
                </a:solidFill>
                <a:latin typeface="Inter" pitchFamily="34" charset="0"/>
                <a:ea typeface="Inter" pitchFamily="34" charset="-122"/>
                <a:cs typeface="Inter" pitchFamily="34" charset="-120"/>
              </a:rPr>
              <a:t>8/1</a:t>
            </a:r>
            <a:r>
              <a:rPr lang="ar-LY" sz="950" dirty="0">
                <a:solidFill>
                  <a:srgbClr val="71717A"/>
                </a:solidFill>
                <a:latin typeface="Inter" pitchFamily="34" charset="0"/>
                <a:ea typeface="Inter" pitchFamily="34" charset="-122"/>
                <a:cs typeface="Inter" pitchFamily="34" charset="-120"/>
              </a:rPr>
              <a:t>1</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47857"/>
          </a:solidFill>
          <a:ln w="12700">
            <a:solidFill>
              <a:srgbClr val="047857"/>
            </a:solidFill>
            <a:prstDash val="solid"/>
          </a:ln>
        </p:spPr>
        <p:txBody>
          <a:bodyPr/>
          <a:lstStyle/>
          <a:p>
            <a:endParaRPr lang="en-US"/>
          </a:p>
        </p:txBody>
      </p:sp>
      <p:sp>
        <p:nvSpPr>
          <p:cNvPr id="3" name="Shape 1"/>
          <p:cNvSpPr/>
          <p:nvPr/>
        </p:nvSpPr>
        <p:spPr>
          <a:xfrm>
            <a:off x="0" y="6748272"/>
            <a:ext cx="12191695" cy="109728"/>
          </a:xfrm>
          <a:prstGeom prst="rect">
            <a:avLst/>
          </a:prstGeom>
          <a:solidFill>
            <a:srgbClr val="F59E0B"/>
          </a:solidFill>
          <a:ln w="12700">
            <a:solidFill>
              <a:srgbClr val="F59E0B"/>
            </a:solidFill>
            <a:prstDash val="solid"/>
          </a:ln>
        </p:spPr>
        <p:txBody>
          <a:bodyPr/>
          <a:lstStyle/>
          <a:p>
            <a:endParaRPr lang="en-US"/>
          </a:p>
        </p:txBody>
      </p:sp>
      <p:sp>
        <p:nvSpPr>
          <p:cNvPr id="5" name="Shape 3"/>
          <p:cNvSpPr/>
          <p:nvPr/>
        </p:nvSpPr>
        <p:spPr>
          <a:xfrm>
            <a:off x="411480" y="502920"/>
            <a:ext cx="11384280" cy="6035040"/>
          </a:xfrm>
          <a:prstGeom prst="roundRect">
            <a:avLst>
              <a:gd name="adj" fmla="val 10947"/>
            </a:avLst>
          </a:prstGeom>
          <a:solidFill>
            <a:srgbClr val="FFFFFF"/>
          </a:solidFill>
          <a:ln w="12700">
            <a:solidFill>
              <a:srgbClr val="E4E4E7"/>
            </a:solidFill>
            <a:prstDash val="solid"/>
          </a:ln>
          <a:effectLst>
            <a:outerShdw blurRad="50800" dist="50800" dir="2700000" algn="bl" rotWithShape="0">
              <a:srgbClr val="B6BCC6">
                <a:alpha val="18000"/>
              </a:srgbClr>
            </a:outerShdw>
          </a:effectLst>
        </p:spPr>
        <p:txBody>
          <a:bodyPr/>
          <a:lstStyle/>
          <a:p>
            <a:endParaRPr lang="en-US"/>
          </a:p>
        </p:txBody>
      </p:sp>
      <p:sp>
        <p:nvSpPr>
          <p:cNvPr id="6" name="Shape 4"/>
          <p:cNvSpPr/>
          <p:nvPr/>
        </p:nvSpPr>
        <p:spPr>
          <a:xfrm>
            <a:off x="640080" y="731520"/>
            <a:ext cx="10927080" cy="749808"/>
          </a:xfrm>
          <a:prstGeom prst="roundRect">
            <a:avLst>
              <a:gd name="adj" fmla="val 50000"/>
            </a:avLst>
          </a:prstGeom>
          <a:solidFill>
            <a:srgbClr val="ECFDF5"/>
          </a:solidFill>
          <a:ln w="12700">
            <a:solidFill>
              <a:srgbClr val="ECFDF5"/>
            </a:solidFill>
            <a:prstDash val="solid"/>
          </a:ln>
        </p:spPr>
        <p:txBody>
          <a:bodyPr/>
          <a:lstStyle/>
          <a:p>
            <a:endParaRPr lang="en-US"/>
          </a:p>
        </p:txBody>
      </p:sp>
      <p:sp>
        <p:nvSpPr>
          <p:cNvPr id="7" name="Text 5"/>
          <p:cNvSpPr/>
          <p:nvPr/>
        </p:nvSpPr>
        <p:spPr>
          <a:xfrm>
            <a:off x="868680" y="941832"/>
            <a:ext cx="10469880" cy="365760"/>
          </a:xfrm>
          <a:prstGeom prst="rect">
            <a:avLst/>
          </a:prstGeom>
          <a:noFill/>
          <a:ln/>
        </p:spPr>
        <p:txBody>
          <a:bodyPr wrap="square" rtlCol="0" anchor="ctr"/>
          <a:lstStyle/>
          <a:p>
            <a:pPr algn="r" rtl="1"/>
            <a:r>
              <a:rPr lang="en-US" sz="2600" b="1" dirty="0">
                <a:solidFill>
                  <a:srgbClr val="047857"/>
                </a:solidFill>
                <a:latin typeface="IBM Plex Sans Arabic" pitchFamily="34" charset="0"/>
                <a:ea typeface="IBM Plex Sans Arabic" pitchFamily="34" charset="-122"/>
                <a:cs typeface="IBM Plex Sans Arabic" pitchFamily="34" charset="-120"/>
              </a:rPr>
              <a:t>📈</a:t>
            </a:r>
            <a:r>
              <a:rPr lang="ar-LY" sz="2600" b="1" dirty="0">
                <a:solidFill>
                  <a:srgbClr val="047857"/>
                </a:solidFill>
                <a:latin typeface="IBM Plex Sans Arabic" pitchFamily="34" charset="0"/>
                <a:ea typeface="IBM Plex Sans Arabic" pitchFamily="34" charset="-122"/>
                <a:cs typeface="IBM Plex Sans Arabic" pitchFamily="34" charset="-120"/>
              </a:rPr>
              <a:t>النتائج المتوقعة</a:t>
            </a:r>
            <a:endParaRPr lang="en-US" sz="2600" dirty="0"/>
          </a:p>
        </p:txBody>
      </p:sp>
      <p:sp>
        <p:nvSpPr>
          <p:cNvPr id="8" name="Text 6"/>
          <p:cNvSpPr/>
          <p:nvPr/>
        </p:nvSpPr>
        <p:spPr>
          <a:xfrm>
            <a:off x="960120" y="1600200"/>
            <a:ext cx="10287000" cy="4572000"/>
          </a:xfrm>
          <a:prstGeom prst="rect">
            <a:avLst/>
          </a:prstGeom>
          <a:noFill/>
          <a:ln/>
        </p:spPr>
        <p:txBody>
          <a:bodyPr wrap="square" rtlCol="0" anchor="t"/>
          <a:lstStyle/>
          <a:p>
            <a:pPr algn="r" rtl="1">
              <a:lnSpc>
                <a:spcPct val="200000"/>
              </a:lnSpc>
            </a:pPr>
            <a:r>
              <a:rPr lang="ar-LY" sz="1900" dirty="0">
                <a:solidFill>
                  <a:srgbClr val="0F172A"/>
                </a:solidFill>
                <a:latin typeface="IBM Plex Sans Arabic" pitchFamily="34" charset="0"/>
                <a:ea typeface="IBM Plex Sans Arabic" pitchFamily="34" charset="-122"/>
                <a:cs typeface="IBM Plex Sans Arabic" pitchFamily="34" charset="-120"/>
              </a:rPr>
              <a:t>• تحسين إدارة المقاهي</a:t>
            </a:r>
          </a:p>
          <a:p>
            <a:pPr algn="r" rtl="1">
              <a:lnSpc>
                <a:spcPct val="200000"/>
              </a:lnSpc>
            </a:pPr>
            <a:r>
              <a:rPr lang="ar-LY" sz="1900" dirty="0">
                <a:solidFill>
                  <a:srgbClr val="0F172A"/>
                </a:solidFill>
                <a:latin typeface="IBM Plex Sans Arabic" pitchFamily="34" charset="0"/>
                <a:ea typeface="IBM Plex Sans Arabic" pitchFamily="34" charset="-122"/>
                <a:cs typeface="IBM Plex Sans Arabic" pitchFamily="34" charset="-120"/>
              </a:rPr>
              <a:t>• تقليل الأخطاء البشرية</a:t>
            </a:r>
          </a:p>
          <a:p>
            <a:pPr algn="r" rtl="1">
              <a:lnSpc>
                <a:spcPct val="200000"/>
              </a:lnSpc>
            </a:pPr>
            <a:r>
              <a:rPr lang="ar-LY" sz="1900" dirty="0">
                <a:solidFill>
                  <a:srgbClr val="0F172A"/>
                </a:solidFill>
                <a:latin typeface="IBM Plex Sans Arabic" pitchFamily="34" charset="0"/>
                <a:ea typeface="IBM Plex Sans Arabic" pitchFamily="34" charset="-122"/>
                <a:cs typeface="IBM Plex Sans Arabic" pitchFamily="34" charset="-120"/>
              </a:rPr>
              <a:t>• زيادة كفاءة العمل</a:t>
            </a:r>
          </a:p>
          <a:p>
            <a:pPr algn="r" rtl="1">
              <a:lnSpc>
                <a:spcPct val="200000"/>
              </a:lnSpc>
            </a:pPr>
            <a:r>
              <a:rPr lang="ar-LY" sz="1900" dirty="0">
                <a:solidFill>
                  <a:srgbClr val="0F172A"/>
                </a:solidFill>
                <a:latin typeface="IBM Plex Sans Arabic" pitchFamily="34" charset="0"/>
                <a:ea typeface="IBM Plex Sans Arabic" pitchFamily="34" charset="-122"/>
                <a:cs typeface="IBM Plex Sans Arabic" pitchFamily="34" charset="-120"/>
              </a:rPr>
              <a:t>• توفير تقارير دقيقة</a:t>
            </a:r>
          </a:p>
          <a:p>
            <a:pPr algn="r" rtl="1">
              <a:lnSpc>
                <a:spcPct val="200000"/>
              </a:lnSpc>
            </a:pPr>
            <a:r>
              <a:rPr lang="ar-LY" sz="1900" dirty="0">
                <a:solidFill>
                  <a:srgbClr val="0F172A"/>
                </a:solidFill>
                <a:latin typeface="IBM Plex Sans Arabic" pitchFamily="34" charset="0"/>
                <a:ea typeface="IBM Plex Sans Arabic" pitchFamily="34" charset="-122"/>
                <a:cs typeface="IBM Plex Sans Arabic" pitchFamily="34" charset="-120"/>
              </a:rPr>
              <a:t>• تقليل الهدر في الموارد</a:t>
            </a:r>
          </a:p>
          <a:p>
            <a:pPr algn="r" rtl="1">
              <a:lnSpc>
                <a:spcPct val="200000"/>
              </a:lnSpc>
            </a:pPr>
            <a:r>
              <a:rPr lang="ar-LY" sz="1900" dirty="0">
                <a:solidFill>
                  <a:srgbClr val="0F172A"/>
                </a:solidFill>
                <a:latin typeface="IBM Plex Sans Arabic" pitchFamily="34" charset="0"/>
                <a:ea typeface="IBM Plex Sans Arabic" pitchFamily="34" charset="-122"/>
                <a:cs typeface="IBM Plex Sans Arabic" pitchFamily="34" charset="-120"/>
              </a:rPr>
              <a:t>• دعم التحول الرقمي في السوق المحلي</a:t>
            </a:r>
            <a:endParaRPr lang="en-US" sz="1900" dirty="0"/>
          </a:p>
        </p:txBody>
      </p:sp>
      <p:sp>
        <p:nvSpPr>
          <p:cNvPr id="9" name="Text 2">
            <a:extLst>
              <a:ext uri="{FF2B5EF4-FFF2-40B4-BE49-F238E27FC236}">
                <a16:creationId xmlns:a16="http://schemas.microsoft.com/office/drawing/2014/main" id="{8DB71A8D-46BE-AB52-ACA9-9B392EC3498A}"/>
              </a:ext>
            </a:extLst>
          </p:cNvPr>
          <p:cNvSpPr/>
          <p:nvPr/>
        </p:nvSpPr>
        <p:spPr>
          <a:xfrm>
            <a:off x="9881130" y="6446520"/>
            <a:ext cx="2103120" cy="182880"/>
          </a:xfrm>
          <a:prstGeom prst="rect">
            <a:avLst/>
          </a:prstGeom>
          <a:noFill/>
          <a:ln/>
        </p:spPr>
        <p:txBody>
          <a:bodyPr wrap="square" rtlCol="0" anchor="ctr"/>
          <a:lstStyle/>
          <a:p>
            <a:pPr marL="0" indent="0" algn="r">
              <a:buNone/>
            </a:pPr>
            <a:r>
              <a:rPr lang="en-US" sz="950" dirty="0">
                <a:solidFill>
                  <a:srgbClr val="71717A"/>
                </a:solidFill>
                <a:latin typeface="Inter" pitchFamily="34" charset="0"/>
                <a:ea typeface="Inter" pitchFamily="34" charset="-122"/>
                <a:cs typeface="Inter" pitchFamily="34" charset="-120"/>
              </a:rPr>
              <a:t>9/1</a:t>
            </a:r>
            <a:r>
              <a:rPr lang="ar-LY" sz="950" dirty="0">
                <a:solidFill>
                  <a:srgbClr val="71717A"/>
                </a:solidFill>
                <a:latin typeface="Inter" pitchFamily="34" charset="0"/>
                <a:ea typeface="Inter" pitchFamily="34" charset="-122"/>
                <a:cs typeface="Inter" pitchFamily="34" charset="-120"/>
              </a:rPr>
              <a:t>1</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47857"/>
          </a:solidFill>
          <a:ln w="12700">
            <a:solidFill>
              <a:srgbClr val="047857"/>
            </a:solidFill>
            <a:prstDash val="solid"/>
          </a:ln>
        </p:spPr>
        <p:txBody>
          <a:bodyPr/>
          <a:lstStyle/>
          <a:p>
            <a:endParaRPr lang="en-US"/>
          </a:p>
        </p:txBody>
      </p:sp>
      <p:sp>
        <p:nvSpPr>
          <p:cNvPr id="3" name="Shape 1"/>
          <p:cNvSpPr/>
          <p:nvPr/>
        </p:nvSpPr>
        <p:spPr>
          <a:xfrm>
            <a:off x="0" y="6748272"/>
            <a:ext cx="12191695" cy="109728"/>
          </a:xfrm>
          <a:prstGeom prst="rect">
            <a:avLst/>
          </a:prstGeom>
          <a:solidFill>
            <a:srgbClr val="F59E0B"/>
          </a:solidFill>
          <a:ln w="12700">
            <a:solidFill>
              <a:srgbClr val="F59E0B"/>
            </a:solidFill>
            <a:prstDash val="solid"/>
          </a:ln>
        </p:spPr>
        <p:txBody>
          <a:bodyPr/>
          <a:lstStyle/>
          <a:p>
            <a:endParaRPr lang="en-US"/>
          </a:p>
        </p:txBody>
      </p:sp>
      <p:sp>
        <p:nvSpPr>
          <p:cNvPr id="5" name="Shape 3"/>
          <p:cNvSpPr/>
          <p:nvPr/>
        </p:nvSpPr>
        <p:spPr>
          <a:xfrm>
            <a:off x="411480" y="411480"/>
            <a:ext cx="11384280" cy="6035040"/>
          </a:xfrm>
          <a:prstGeom prst="roundRect">
            <a:avLst>
              <a:gd name="adj" fmla="val 12802"/>
            </a:avLst>
          </a:prstGeom>
          <a:solidFill>
            <a:srgbClr val="FFFFFF"/>
          </a:solidFill>
          <a:ln w="12700">
            <a:solidFill>
              <a:srgbClr val="E4E4E7"/>
            </a:solidFill>
            <a:prstDash val="solid"/>
          </a:ln>
          <a:effectLst>
            <a:outerShdw blurRad="50800" dist="50800" dir="2700000" algn="bl" rotWithShape="0">
              <a:srgbClr val="B6BCC6">
                <a:alpha val="18000"/>
              </a:srgbClr>
            </a:outerShdw>
          </a:effectLst>
        </p:spPr>
        <p:txBody>
          <a:bodyPr/>
          <a:lstStyle/>
          <a:p>
            <a:endParaRPr lang="en-US"/>
          </a:p>
        </p:txBody>
      </p:sp>
      <p:sp>
        <p:nvSpPr>
          <p:cNvPr id="6" name="Shape 4"/>
          <p:cNvSpPr/>
          <p:nvPr/>
        </p:nvSpPr>
        <p:spPr>
          <a:xfrm>
            <a:off x="640080" y="684865"/>
            <a:ext cx="10927080" cy="749808"/>
          </a:xfrm>
          <a:prstGeom prst="roundRect">
            <a:avLst>
              <a:gd name="adj" fmla="val 50000"/>
            </a:avLst>
          </a:prstGeom>
          <a:solidFill>
            <a:srgbClr val="ECFDF5"/>
          </a:solidFill>
          <a:ln w="12700">
            <a:solidFill>
              <a:srgbClr val="ECFDF5"/>
            </a:solidFill>
            <a:prstDash val="solid"/>
          </a:ln>
        </p:spPr>
        <p:txBody>
          <a:bodyPr/>
          <a:lstStyle/>
          <a:p>
            <a:endParaRPr lang="en-US"/>
          </a:p>
        </p:txBody>
      </p:sp>
      <p:sp>
        <p:nvSpPr>
          <p:cNvPr id="7" name="Text 5"/>
          <p:cNvSpPr/>
          <p:nvPr/>
        </p:nvSpPr>
        <p:spPr>
          <a:xfrm>
            <a:off x="868680" y="895177"/>
            <a:ext cx="10469880" cy="365760"/>
          </a:xfrm>
          <a:prstGeom prst="rect">
            <a:avLst/>
          </a:prstGeom>
          <a:noFill/>
          <a:ln/>
        </p:spPr>
        <p:txBody>
          <a:bodyPr wrap="square" rtlCol="0" anchor="ctr"/>
          <a:lstStyle/>
          <a:p>
            <a:pPr marL="0" indent="0" algn="r" rtl="1">
              <a:buNone/>
            </a:pPr>
            <a:r>
              <a:rPr lang="en-US" sz="2600" b="1" dirty="0">
                <a:solidFill>
                  <a:srgbClr val="047857"/>
                </a:solidFill>
                <a:latin typeface="IBM Plex Sans Arabic" pitchFamily="34" charset="0"/>
                <a:ea typeface="IBM Plex Sans Arabic" pitchFamily="34" charset="-122"/>
                <a:cs typeface="IBM Plex Sans Arabic" pitchFamily="34" charset="-120"/>
              </a:rPr>
              <a:t>🌐  </a:t>
            </a:r>
            <a:r>
              <a:rPr lang="ar-LY" sz="2600" b="1" dirty="0">
                <a:solidFill>
                  <a:srgbClr val="047857"/>
                </a:solidFill>
                <a:latin typeface="IBM Plex Sans Arabic" pitchFamily="34" charset="0"/>
                <a:ea typeface="IBM Plex Sans Arabic" pitchFamily="34" charset="-122"/>
                <a:cs typeface="IBM Plex Sans Arabic" pitchFamily="34" charset="-120"/>
              </a:rPr>
              <a:t>الخطط المستقبلية</a:t>
            </a:r>
            <a:endParaRPr lang="en-US" sz="2600" dirty="0"/>
          </a:p>
        </p:txBody>
      </p:sp>
      <p:sp>
        <p:nvSpPr>
          <p:cNvPr id="8" name="Text 6"/>
          <p:cNvSpPr/>
          <p:nvPr/>
        </p:nvSpPr>
        <p:spPr>
          <a:xfrm>
            <a:off x="960120" y="1553545"/>
            <a:ext cx="10287000" cy="4572000"/>
          </a:xfrm>
          <a:prstGeom prst="rect">
            <a:avLst/>
          </a:prstGeom>
          <a:noFill/>
          <a:ln/>
        </p:spPr>
        <p:txBody>
          <a:bodyPr wrap="square" rtlCol="0" anchor="t"/>
          <a:lstStyle/>
          <a:p>
            <a:pPr algn="r" rtl="1">
              <a:lnSpc>
                <a:spcPct val="150000"/>
              </a:lnSpc>
            </a:pPr>
            <a:r>
              <a:rPr lang="ar-LY" sz="1900" dirty="0">
                <a:solidFill>
                  <a:srgbClr val="0F172A"/>
                </a:solidFill>
                <a:latin typeface="IBM Plex Sans Arabic" pitchFamily="34" charset="0"/>
                <a:ea typeface="IBM Plex Sans Arabic" pitchFamily="34" charset="-122"/>
                <a:cs typeface="IBM Plex Sans Arabic" pitchFamily="34" charset="-120"/>
              </a:rPr>
              <a:t>• التوسع نحو السوق الدولي</a:t>
            </a:r>
          </a:p>
          <a:p>
            <a:pPr algn="r" rtl="1">
              <a:lnSpc>
                <a:spcPct val="150000"/>
              </a:lnSpc>
            </a:pPr>
            <a:r>
              <a:rPr lang="ar-LY" sz="1900" dirty="0">
                <a:solidFill>
                  <a:srgbClr val="0F172A"/>
                </a:solidFill>
                <a:latin typeface="IBM Plex Sans Arabic" pitchFamily="34" charset="0"/>
                <a:ea typeface="IBM Plex Sans Arabic" pitchFamily="34" charset="-122"/>
                <a:cs typeface="IBM Plex Sans Arabic" pitchFamily="34" charset="-120"/>
              </a:rPr>
              <a:t>• دعم الدفع الإلكتروني العالمي باستخدام </a:t>
            </a:r>
            <a:r>
              <a:rPr lang="en-US" sz="1900" dirty="0">
                <a:solidFill>
                  <a:srgbClr val="0F172A"/>
                </a:solidFill>
                <a:latin typeface="IBM Plex Sans Arabic" pitchFamily="34" charset="0"/>
                <a:ea typeface="IBM Plex Sans Arabic" pitchFamily="34" charset="-122"/>
                <a:cs typeface="IBM Plex Sans Arabic" pitchFamily="34" charset="-120"/>
              </a:rPr>
              <a:t>Stripe</a:t>
            </a:r>
          </a:p>
          <a:p>
            <a:pPr algn="r" rtl="1">
              <a:lnSpc>
                <a:spcPct val="150000"/>
              </a:lnSpc>
            </a:pPr>
            <a:r>
              <a:rPr lang="en-US" sz="1900" dirty="0">
                <a:solidFill>
                  <a:srgbClr val="0F172A"/>
                </a:solidFill>
                <a:latin typeface="IBM Plex Sans Arabic" pitchFamily="34" charset="0"/>
                <a:ea typeface="IBM Plex Sans Arabic" pitchFamily="34" charset="-122"/>
                <a:cs typeface="IBM Plex Sans Arabic" pitchFamily="34" charset="-120"/>
              </a:rPr>
              <a:t>• </a:t>
            </a:r>
            <a:r>
              <a:rPr lang="ar-LY" sz="1900" dirty="0">
                <a:solidFill>
                  <a:srgbClr val="0F172A"/>
                </a:solidFill>
                <a:latin typeface="IBM Plex Sans Arabic" pitchFamily="34" charset="0"/>
                <a:ea typeface="IBM Plex Sans Arabic" pitchFamily="34" charset="-122"/>
                <a:cs typeface="IBM Plex Sans Arabic" pitchFamily="34" charset="-120"/>
              </a:rPr>
              <a:t>دعم بطاقات </a:t>
            </a:r>
            <a:r>
              <a:rPr lang="en-US" sz="1900" dirty="0">
                <a:solidFill>
                  <a:srgbClr val="0F172A"/>
                </a:solidFill>
                <a:latin typeface="IBM Plex Sans Arabic" pitchFamily="34" charset="0"/>
                <a:ea typeface="IBM Plex Sans Arabic" pitchFamily="34" charset="-122"/>
                <a:cs typeface="IBM Plex Sans Arabic" pitchFamily="34" charset="-120"/>
              </a:rPr>
              <a:t>Visa</a:t>
            </a:r>
            <a:r>
              <a:rPr lang="ar-LY" sz="1900" dirty="0">
                <a:solidFill>
                  <a:srgbClr val="0F172A"/>
                </a:solidFill>
                <a:latin typeface="IBM Plex Sans Arabic" pitchFamily="34" charset="0"/>
                <a:ea typeface="IBM Plex Sans Arabic" pitchFamily="34" charset="-122"/>
                <a:cs typeface="IBM Plex Sans Arabic" pitchFamily="34" charset="-120"/>
              </a:rPr>
              <a:t> </a:t>
            </a:r>
            <a:r>
              <a:rPr lang="en-US" sz="1900" dirty="0">
                <a:solidFill>
                  <a:srgbClr val="0F172A"/>
                </a:solidFill>
                <a:latin typeface="IBM Plex Sans Arabic" pitchFamily="34" charset="0"/>
                <a:ea typeface="IBM Plex Sans Arabic" pitchFamily="34" charset="-122"/>
                <a:cs typeface="IBM Plex Sans Arabic" pitchFamily="34" charset="-120"/>
              </a:rPr>
              <a:t> </a:t>
            </a:r>
            <a:r>
              <a:rPr lang="ar-LY" sz="1900" dirty="0">
                <a:solidFill>
                  <a:srgbClr val="0F172A"/>
                </a:solidFill>
                <a:latin typeface="IBM Plex Sans Arabic" pitchFamily="34" charset="0"/>
                <a:ea typeface="IBM Plex Sans Arabic" pitchFamily="34" charset="-122"/>
                <a:cs typeface="IBM Plex Sans Arabic" pitchFamily="34" charset="-120"/>
              </a:rPr>
              <a:t>و </a:t>
            </a:r>
            <a:r>
              <a:rPr lang="en-US" sz="1900" dirty="0">
                <a:solidFill>
                  <a:srgbClr val="0F172A"/>
                </a:solidFill>
                <a:latin typeface="IBM Plex Sans Arabic" pitchFamily="34" charset="0"/>
                <a:ea typeface="IBM Plex Sans Arabic" pitchFamily="34" charset="-122"/>
                <a:cs typeface="IBM Plex Sans Arabic" pitchFamily="34" charset="-120"/>
              </a:rPr>
              <a:t>MasterCard</a:t>
            </a:r>
          </a:p>
          <a:p>
            <a:pPr algn="r" rtl="1">
              <a:lnSpc>
                <a:spcPct val="150000"/>
              </a:lnSpc>
            </a:pPr>
            <a:r>
              <a:rPr lang="en-US" sz="1900" dirty="0">
                <a:solidFill>
                  <a:srgbClr val="0F172A"/>
                </a:solidFill>
                <a:latin typeface="IBM Plex Sans Arabic" pitchFamily="34" charset="0"/>
                <a:ea typeface="IBM Plex Sans Arabic" pitchFamily="34" charset="-122"/>
                <a:cs typeface="IBM Plex Sans Arabic" pitchFamily="34" charset="-120"/>
              </a:rPr>
              <a:t>• </a:t>
            </a:r>
            <a:r>
              <a:rPr lang="ar-LY" sz="1900" dirty="0">
                <a:solidFill>
                  <a:srgbClr val="0F172A"/>
                </a:solidFill>
                <a:latin typeface="IBM Plex Sans Arabic" pitchFamily="34" charset="0"/>
                <a:ea typeface="IBM Plex Sans Arabic" pitchFamily="34" charset="-122"/>
                <a:cs typeface="IBM Plex Sans Arabic" pitchFamily="34" charset="-120"/>
              </a:rPr>
              <a:t>دعم الاشتراكات بالدولار والعملات العالمية</a:t>
            </a:r>
          </a:p>
          <a:p>
            <a:pPr algn="r" rtl="1">
              <a:lnSpc>
                <a:spcPct val="150000"/>
              </a:lnSpc>
            </a:pPr>
            <a:r>
              <a:rPr lang="ar-LY" sz="1900" dirty="0">
                <a:solidFill>
                  <a:srgbClr val="0F172A"/>
                </a:solidFill>
                <a:latin typeface="IBM Plex Sans Arabic" pitchFamily="34" charset="0"/>
                <a:ea typeface="IBM Plex Sans Arabic" pitchFamily="34" charset="-122"/>
                <a:cs typeface="IBM Plex Sans Arabic" pitchFamily="34" charset="-120"/>
              </a:rPr>
              <a:t>• تطوير تطبيقات موبايل للنظام</a:t>
            </a:r>
          </a:p>
          <a:p>
            <a:pPr algn="r" rtl="1">
              <a:lnSpc>
                <a:spcPct val="150000"/>
              </a:lnSpc>
            </a:pPr>
            <a:r>
              <a:rPr lang="ar-LY" sz="1900" dirty="0">
                <a:solidFill>
                  <a:srgbClr val="0F172A"/>
                </a:solidFill>
                <a:latin typeface="IBM Plex Sans Arabic" pitchFamily="34" charset="0"/>
                <a:ea typeface="IBM Plex Sans Arabic" pitchFamily="34" charset="-122"/>
                <a:cs typeface="IBM Plex Sans Arabic" pitchFamily="34" charset="-120"/>
              </a:rPr>
              <a:t>• إضافة تحليلات متقدمة تعتمد على تقنيات الذكاء الإصطناعي</a:t>
            </a:r>
            <a:endParaRPr lang="en-US" sz="1900" dirty="0"/>
          </a:p>
        </p:txBody>
      </p:sp>
      <p:sp>
        <p:nvSpPr>
          <p:cNvPr id="9" name="Text 2">
            <a:extLst>
              <a:ext uri="{FF2B5EF4-FFF2-40B4-BE49-F238E27FC236}">
                <a16:creationId xmlns:a16="http://schemas.microsoft.com/office/drawing/2014/main" id="{1BAED6B0-ECCB-D239-52DF-6CDB6D2B9980}"/>
              </a:ext>
            </a:extLst>
          </p:cNvPr>
          <p:cNvSpPr/>
          <p:nvPr/>
        </p:nvSpPr>
        <p:spPr>
          <a:xfrm>
            <a:off x="9881130" y="6446520"/>
            <a:ext cx="2103120" cy="182880"/>
          </a:xfrm>
          <a:prstGeom prst="rect">
            <a:avLst/>
          </a:prstGeom>
          <a:noFill/>
          <a:ln/>
        </p:spPr>
        <p:txBody>
          <a:bodyPr wrap="square" rtlCol="0" anchor="ctr"/>
          <a:lstStyle/>
          <a:p>
            <a:pPr marL="0" indent="0" algn="r">
              <a:buNone/>
            </a:pPr>
            <a:r>
              <a:rPr lang="en-US" sz="950" dirty="0">
                <a:solidFill>
                  <a:srgbClr val="71717A"/>
                </a:solidFill>
                <a:latin typeface="Inter" pitchFamily="34" charset="0"/>
                <a:ea typeface="Inter" pitchFamily="34" charset="-122"/>
                <a:cs typeface="Inter" pitchFamily="34" charset="-120"/>
              </a:rPr>
              <a:t>10/1</a:t>
            </a:r>
            <a:r>
              <a:rPr lang="ar-LY" sz="950" dirty="0">
                <a:solidFill>
                  <a:srgbClr val="71717A"/>
                </a:solidFill>
                <a:latin typeface="Inter" pitchFamily="34" charset="0"/>
                <a:ea typeface="Inter" pitchFamily="34" charset="-122"/>
                <a:cs typeface="Inter" pitchFamily="34" charset="-120"/>
              </a:rPr>
              <a:t>1</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47857"/>
          </a:solidFill>
          <a:ln w="12700">
            <a:solidFill>
              <a:srgbClr val="047857"/>
            </a:solidFill>
            <a:prstDash val="solid"/>
          </a:ln>
        </p:spPr>
        <p:txBody>
          <a:bodyPr/>
          <a:lstStyle/>
          <a:p>
            <a:endParaRPr lang="en-US"/>
          </a:p>
        </p:txBody>
      </p:sp>
      <p:sp>
        <p:nvSpPr>
          <p:cNvPr id="3" name="Shape 1"/>
          <p:cNvSpPr/>
          <p:nvPr/>
        </p:nvSpPr>
        <p:spPr>
          <a:xfrm>
            <a:off x="0" y="6748272"/>
            <a:ext cx="12191695" cy="109728"/>
          </a:xfrm>
          <a:prstGeom prst="rect">
            <a:avLst/>
          </a:prstGeom>
          <a:solidFill>
            <a:srgbClr val="F59E0B"/>
          </a:solidFill>
          <a:ln w="12700">
            <a:solidFill>
              <a:srgbClr val="F59E0B"/>
            </a:solidFill>
            <a:prstDash val="solid"/>
          </a:ln>
        </p:spPr>
        <p:txBody>
          <a:bodyPr/>
          <a:lstStyle/>
          <a:p>
            <a:endParaRPr lang="en-US"/>
          </a:p>
        </p:txBody>
      </p:sp>
      <p:sp>
        <p:nvSpPr>
          <p:cNvPr id="5" name="Shape 3"/>
          <p:cNvSpPr/>
          <p:nvPr/>
        </p:nvSpPr>
        <p:spPr>
          <a:xfrm>
            <a:off x="411480" y="502920"/>
            <a:ext cx="11384280" cy="6035040"/>
          </a:xfrm>
          <a:prstGeom prst="roundRect">
            <a:avLst>
              <a:gd name="adj" fmla="val 10792"/>
            </a:avLst>
          </a:prstGeom>
          <a:solidFill>
            <a:srgbClr val="FFFFFF"/>
          </a:solidFill>
          <a:ln w="12700">
            <a:solidFill>
              <a:srgbClr val="E4E4E7"/>
            </a:solidFill>
            <a:prstDash val="solid"/>
          </a:ln>
          <a:effectLst>
            <a:outerShdw blurRad="50800" dist="50800" dir="2700000" algn="bl" rotWithShape="0">
              <a:srgbClr val="B6BCC6">
                <a:alpha val="18000"/>
              </a:srgbClr>
            </a:outerShdw>
          </a:effectLst>
        </p:spPr>
        <p:txBody>
          <a:bodyPr/>
          <a:lstStyle/>
          <a:p>
            <a:endParaRPr lang="en-US"/>
          </a:p>
        </p:txBody>
      </p:sp>
      <p:sp>
        <p:nvSpPr>
          <p:cNvPr id="6" name="Shape 4"/>
          <p:cNvSpPr/>
          <p:nvPr/>
        </p:nvSpPr>
        <p:spPr>
          <a:xfrm>
            <a:off x="640080" y="731520"/>
            <a:ext cx="10927080" cy="749808"/>
          </a:xfrm>
          <a:prstGeom prst="roundRect">
            <a:avLst>
              <a:gd name="adj" fmla="val 50000"/>
            </a:avLst>
          </a:prstGeom>
          <a:solidFill>
            <a:srgbClr val="ECFDF5"/>
          </a:solidFill>
          <a:ln w="12700">
            <a:solidFill>
              <a:srgbClr val="ECFDF5"/>
            </a:solidFill>
            <a:prstDash val="solid"/>
          </a:ln>
        </p:spPr>
        <p:txBody>
          <a:bodyPr/>
          <a:lstStyle/>
          <a:p>
            <a:endParaRPr lang="en-US"/>
          </a:p>
        </p:txBody>
      </p:sp>
      <p:sp>
        <p:nvSpPr>
          <p:cNvPr id="7" name="Text 5"/>
          <p:cNvSpPr/>
          <p:nvPr/>
        </p:nvSpPr>
        <p:spPr>
          <a:xfrm>
            <a:off x="868680" y="941832"/>
            <a:ext cx="10469880" cy="365760"/>
          </a:xfrm>
          <a:prstGeom prst="rect">
            <a:avLst/>
          </a:prstGeom>
          <a:noFill/>
          <a:ln/>
        </p:spPr>
        <p:txBody>
          <a:bodyPr wrap="square" rtlCol="0" anchor="ctr"/>
          <a:lstStyle/>
          <a:p>
            <a:pPr algn="r" rtl="1"/>
            <a:r>
              <a:rPr lang="en-US" sz="2600" b="1" dirty="0">
                <a:solidFill>
                  <a:srgbClr val="047857"/>
                </a:solidFill>
                <a:latin typeface="IBM Plex Sans Arabic" pitchFamily="34" charset="0"/>
                <a:ea typeface="IBM Plex Sans Arabic" pitchFamily="34" charset="-122"/>
                <a:cs typeface="IBM Plex Sans Arabic" pitchFamily="34" charset="-120"/>
              </a:rPr>
              <a:t>🙏  </a:t>
            </a:r>
            <a:r>
              <a:rPr lang="en-US" sz="2600" b="1" dirty="0" err="1">
                <a:solidFill>
                  <a:srgbClr val="047857"/>
                </a:solidFill>
                <a:latin typeface="IBM Plex Sans Arabic" pitchFamily="34" charset="0"/>
                <a:ea typeface="IBM Plex Sans Arabic" pitchFamily="34" charset="-122"/>
                <a:cs typeface="IBM Plex Sans Arabic" pitchFamily="34" charset="-120"/>
              </a:rPr>
              <a:t>الخاتمة</a:t>
            </a:r>
            <a:endParaRPr lang="en-US" sz="2600" dirty="0"/>
          </a:p>
        </p:txBody>
      </p:sp>
      <p:sp>
        <p:nvSpPr>
          <p:cNvPr id="8" name="Text 6"/>
          <p:cNvSpPr/>
          <p:nvPr/>
        </p:nvSpPr>
        <p:spPr>
          <a:xfrm>
            <a:off x="960120" y="1600200"/>
            <a:ext cx="10287000" cy="4572000"/>
          </a:xfrm>
          <a:prstGeom prst="rect">
            <a:avLst/>
          </a:prstGeom>
          <a:noFill/>
          <a:ln/>
        </p:spPr>
        <p:txBody>
          <a:bodyPr wrap="square" rtlCol="0" anchor="t"/>
          <a:lstStyle/>
          <a:p>
            <a:pPr algn="r" rtl="1">
              <a:lnSpc>
                <a:spcPct val="200000"/>
              </a:lnSpc>
            </a:pPr>
            <a:r>
              <a:rPr lang="ar-LY" sz="1900" dirty="0">
                <a:solidFill>
                  <a:srgbClr val="0F172A"/>
                </a:solidFill>
                <a:latin typeface="IBM Plex Sans Arabic" pitchFamily="34" charset="0"/>
                <a:ea typeface="IBM Plex Sans Arabic" pitchFamily="34" charset="-122"/>
                <a:cs typeface="IBM Plex Sans Arabic" pitchFamily="34" charset="-120"/>
              </a:rPr>
              <a:t>يمثل مشروع </a:t>
            </a:r>
            <a:r>
              <a:rPr lang="en-US" sz="1900" b="1" dirty="0" err="1">
                <a:solidFill>
                  <a:srgbClr val="3C7665"/>
                </a:solidFill>
                <a:latin typeface="IBM Plex Sans Arabic" pitchFamily="34" charset="0"/>
                <a:ea typeface="IBM Plex Sans Arabic" pitchFamily="34" charset="-122"/>
                <a:cs typeface="IBM Plex Sans Arabic" pitchFamily="34" charset="-120"/>
              </a:rPr>
              <a:t>CafeFlow</a:t>
            </a:r>
            <a:r>
              <a:rPr lang="ar-LY" sz="1900" dirty="0">
                <a:solidFill>
                  <a:srgbClr val="0F172A"/>
                </a:solidFill>
                <a:latin typeface="IBM Plex Sans Arabic" pitchFamily="34" charset="0"/>
                <a:ea typeface="IBM Plex Sans Arabic" pitchFamily="34" charset="-122"/>
                <a:cs typeface="IBM Plex Sans Arabic" pitchFamily="34" charset="-120"/>
              </a:rPr>
              <a:t> خطوة نحو تطوير قطاع المقاهي في ليبيا من خلال تقديم نظام سحابي حديث ، مع إمكانية التوسع مستقبلًا ليصبح منصة عالمية متكاملة تدعم مختلف الأسواق.</a:t>
            </a:r>
            <a:endParaRPr lang="en-US" sz="1900" dirty="0"/>
          </a:p>
        </p:txBody>
      </p:sp>
      <p:sp>
        <p:nvSpPr>
          <p:cNvPr id="9" name="Text 2">
            <a:extLst>
              <a:ext uri="{FF2B5EF4-FFF2-40B4-BE49-F238E27FC236}">
                <a16:creationId xmlns:a16="http://schemas.microsoft.com/office/drawing/2014/main" id="{5C024C5A-403E-F74A-9B3E-4384F92BB4F4}"/>
              </a:ext>
            </a:extLst>
          </p:cNvPr>
          <p:cNvSpPr/>
          <p:nvPr/>
        </p:nvSpPr>
        <p:spPr>
          <a:xfrm>
            <a:off x="9881130" y="6446520"/>
            <a:ext cx="2103120" cy="182880"/>
          </a:xfrm>
          <a:prstGeom prst="rect">
            <a:avLst/>
          </a:prstGeom>
          <a:noFill/>
          <a:ln/>
        </p:spPr>
        <p:txBody>
          <a:bodyPr wrap="square" rtlCol="0" anchor="ctr"/>
          <a:lstStyle/>
          <a:p>
            <a:pPr marL="0" indent="0" algn="r">
              <a:buNone/>
            </a:pPr>
            <a:r>
              <a:rPr lang="en-US" sz="950" dirty="0">
                <a:solidFill>
                  <a:srgbClr val="71717A"/>
                </a:solidFill>
                <a:latin typeface="Inter" pitchFamily="34" charset="0"/>
                <a:ea typeface="Inter" pitchFamily="34" charset="-122"/>
                <a:cs typeface="Inter" pitchFamily="34" charset="-120"/>
              </a:rPr>
              <a:t>11/1</a:t>
            </a:r>
            <a:r>
              <a:rPr lang="ar-LY" sz="950" dirty="0">
                <a:solidFill>
                  <a:srgbClr val="71717A"/>
                </a:solidFill>
                <a:latin typeface="Inter" pitchFamily="34" charset="0"/>
                <a:ea typeface="Inter" pitchFamily="34" charset="-122"/>
                <a:cs typeface="Inter" pitchFamily="34" charset="-120"/>
              </a:rPr>
              <a:t>1</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106</TotalTime>
  <Words>703</Words>
  <Application>Microsoft Office PowerPoint</Application>
  <PresentationFormat>Widescreen</PresentationFormat>
  <Paragraphs>99</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IBM Plex Sans Arabic</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Al-Salam International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CafeFlow - Graduation Presentation</dc:title>
  <dc:subject>SaaS for multi-branch coffee shops</dc:subject>
  <dc:creator>CafeFlow Team</dc:creator>
  <cp:lastModifiedBy>Omar Alabyadh</cp:lastModifiedBy>
  <cp:revision>7</cp:revision>
  <dcterms:created xsi:type="dcterms:W3CDTF">2026-04-24T20:21:29Z</dcterms:created>
  <dcterms:modified xsi:type="dcterms:W3CDTF">2026-04-25T01:10:38Z</dcterms:modified>
</cp:coreProperties>
</file>